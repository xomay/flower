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Montserrat" panose="00000500000000000000" pitchFamily="2" charset="0"/>
      <p:regular r:id="rId16"/>
    </p:embeddedFont>
    <p:embeddedFont>
      <p:font typeface="Calibri" panose="020F050202020403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i8vnkna8H3EMo3hrJoboKpvLGN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10E0F9-F30F-4EC8-BE2C-2E1D048924BB}">
  <a:tblStyle styleId="{2110E0F9-F30F-4EC8-BE2C-2E1D048924BB}"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3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224731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87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5367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8aa60a07a6_0_9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8aa60a07a6_0_9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976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8aa60a07a6_0_9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g8aa60a07a6_0_9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3430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f6f1825b7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f6f1825b7e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f6f1825b7e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fr-FR"/>
              <a:t>5</a:t>
            </a:fld>
            <a:endParaRPr/>
          </a:p>
        </p:txBody>
      </p:sp>
    </p:spTree>
    <p:extLst>
      <p:ext uri="{BB962C8B-B14F-4D97-AF65-F5344CB8AC3E}">
        <p14:creationId xmlns:p14="http://schemas.microsoft.com/office/powerpoint/2010/main" val="2055748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2890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6036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1184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836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286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6269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7459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78197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5371225" y="2530025"/>
            <a:ext cx="62046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5778600" y="4942025"/>
            <a:ext cx="5717700" cy="7920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Font typeface="Montserrat"/>
              <a:buNone/>
              <a:defRPr sz="2400">
                <a:latin typeface="Montserrat"/>
                <a:ea typeface="Montserrat"/>
                <a:cs typeface="Montserrat"/>
                <a:sym typeface="Montserrat"/>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pic>
        <p:nvPicPr>
          <p:cNvPr id="21" name="Google Shape;21;p12"/>
          <p:cNvPicPr preferRelativeResize="0"/>
          <p:nvPr/>
        </p:nvPicPr>
        <p:blipFill rotWithShape="1">
          <a:blip r:embed="rId2">
            <a:alphaModFix/>
          </a:blip>
          <a:srcRect/>
          <a:stretch/>
        </p:blipFill>
        <p:spPr>
          <a:xfrm>
            <a:off x="47170" y="113273"/>
            <a:ext cx="1518775" cy="864000"/>
          </a:xfrm>
          <a:prstGeom prst="rect">
            <a:avLst/>
          </a:prstGeom>
          <a:noFill/>
          <a:ln>
            <a:noFill/>
          </a:ln>
        </p:spPr>
      </p:pic>
      <p:sp>
        <p:nvSpPr>
          <p:cNvPr id="22" name="Google Shape;22;p12"/>
          <p:cNvSpPr/>
          <p:nvPr/>
        </p:nvSpPr>
        <p:spPr>
          <a:xfrm>
            <a:off x="1933575" y="6530537"/>
            <a:ext cx="540000" cy="540000"/>
          </a:xfrm>
          <a:prstGeom prst="ellipse">
            <a:avLst/>
          </a:prstGeom>
          <a:solidFill>
            <a:srgbClr val="E40134">
              <a:alpha val="40000"/>
            </a:srgbClr>
          </a:solidFill>
          <a:ln>
            <a:noFill/>
          </a:ln>
          <a:effectLst>
            <a:outerShdw blurRad="76200" dist="38100" dir="2700000" algn="tl" rotWithShape="0">
              <a:srgbClr val="E40134">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23;p12"/>
          <p:cNvSpPr/>
          <p:nvPr/>
        </p:nvSpPr>
        <p:spPr>
          <a:xfrm>
            <a:off x="-270000" y="5828537"/>
            <a:ext cx="540000" cy="540000"/>
          </a:xfrm>
          <a:prstGeom prst="ellipse">
            <a:avLst/>
          </a:prstGeom>
          <a:solidFill>
            <a:srgbClr val="3CACB6">
              <a:alpha val="40000"/>
            </a:srgbClr>
          </a:solidFill>
          <a:ln>
            <a:noFill/>
          </a:ln>
          <a:effectLst>
            <a:outerShdw blurRad="76200" dist="38100" dir="2700000" algn="tl" rotWithShape="0">
              <a:srgbClr val="3CACB6">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24;p12"/>
          <p:cNvSpPr/>
          <p:nvPr/>
        </p:nvSpPr>
        <p:spPr>
          <a:xfrm>
            <a:off x="1683638" y="2776327"/>
            <a:ext cx="3600000" cy="3600000"/>
          </a:xfrm>
          <a:prstGeom prst="ellipse">
            <a:avLst/>
          </a:prstGeom>
          <a:solidFill>
            <a:srgbClr val="E40134">
              <a:alpha val="68630"/>
            </a:srgbClr>
          </a:solidFill>
          <a:ln>
            <a:noFill/>
          </a:ln>
          <a:effectLst>
            <a:outerShdw blurRad="76200" dist="50800" dir="5400000" algn="ctr" rotWithShape="0">
              <a:srgbClr val="E40134">
                <a:alpha val="686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12"/>
          <p:cNvSpPr/>
          <p:nvPr/>
        </p:nvSpPr>
        <p:spPr>
          <a:xfrm>
            <a:off x="0" y="1529864"/>
            <a:ext cx="4317900" cy="3746100"/>
          </a:xfrm>
          <a:prstGeom prst="flowChartDelay">
            <a:avLst/>
          </a:prstGeom>
          <a:solidFill>
            <a:srgbClr val="3CACB6">
              <a:alpha val="68630"/>
            </a:srgbClr>
          </a:solidFill>
          <a:ln>
            <a:noFill/>
          </a:ln>
          <a:effectLst>
            <a:outerShdw blurRad="76200" dist="50800" dir="5400000" algn="ctr" rotWithShape="0">
              <a:srgbClr val="3CACB6">
                <a:alpha val="686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6" name="Google Shape;26;p12"/>
          <p:cNvPicPr preferRelativeResize="0"/>
          <p:nvPr/>
        </p:nvPicPr>
        <p:blipFill rotWithShape="1">
          <a:blip r:embed="rId3">
            <a:alphaModFix/>
          </a:blip>
          <a:srcRect l="5058" r="3791"/>
          <a:stretch/>
        </p:blipFill>
        <p:spPr>
          <a:xfrm>
            <a:off x="270000" y="2312400"/>
            <a:ext cx="3233700" cy="2377800"/>
          </a:xfrm>
          <a:prstGeom prst="roundRect">
            <a:avLst>
              <a:gd name="adj" fmla="val 16667"/>
            </a:avLst>
          </a:prstGeom>
          <a:noFill/>
          <a:ln>
            <a:noFill/>
          </a:ln>
          <a:effectLst>
            <a:outerShdw blurRad="76200" dist="38100" dir="7800000" algn="tl" rotWithShape="0">
              <a:srgbClr val="000000">
                <a:alpha val="40000"/>
              </a:srgbClr>
            </a:outerShdw>
          </a:effectLst>
        </p:spPr>
      </p:pic>
      <p:pic>
        <p:nvPicPr>
          <p:cNvPr id="27" name="Google Shape;27;p12"/>
          <p:cNvPicPr preferRelativeResize="0"/>
          <p:nvPr/>
        </p:nvPicPr>
        <p:blipFill rotWithShape="1">
          <a:blip r:embed="rId4">
            <a:alphaModFix/>
          </a:blip>
          <a:srcRect/>
          <a:stretch/>
        </p:blipFill>
        <p:spPr>
          <a:xfrm>
            <a:off x="11312967" y="5972537"/>
            <a:ext cx="879033" cy="792000"/>
          </a:xfrm>
          <a:prstGeom prst="rect">
            <a:avLst/>
          </a:prstGeom>
          <a:noFill/>
          <a:ln>
            <a:noFill/>
          </a:ln>
        </p:spPr>
      </p:pic>
      <p:sp>
        <p:nvSpPr>
          <p:cNvPr id="28" name="Google Shape;28;p12"/>
          <p:cNvSpPr/>
          <p:nvPr/>
        </p:nvSpPr>
        <p:spPr>
          <a:xfrm rot="-7719812">
            <a:off x="8129837" y="-1800035"/>
            <a:ext cx="3600024" cy="3600024"/>
          </a:xfrm>
          <a:prstGeom prst="blockArc">
            <a:avLst>
              <a:gd name="adj1" fmla="val 7269519"/>
              <a:gd name="adj2" fmla="val 63717"/>
              <a:gd name="adj3" fmla="val 8594"/>
            </a:avLst>
          </a:prstGeom>
          <a:solidFill>
            <a:srgbClr val="3CACB6">
              <a:alpha val="68630"/>
            </a:srgbClr>
          </a:solidFill>
          <a:ln>
            <a:noFill/>
          </a:ln>
          <a:effectLst>
            <a:outerShdw blurRad="76200" dist="38100" dir="18900000" algn="bl" rotWithShape="0">
              <a:srgbClr val="3CACB6">
                <a:alpha val="686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12"/>
          <p:cNvSpPr/>
          <p:nvPr/>
        </p:nvSpPr>
        <p:spPr>
          <a:xfrm rot="-7719812">
            <a:off x="9819077" y="-822761"/>
            <a:ext cx="3600024" cy="3600024"/>
          </a:xfrm>
          <a:prstGeom prst="blockArc">
            <a:avLst>
              <a:gd name="adj1" fmla="val 10017621"/>
              <a:gd name="adj2" fmla="val 63717"/>
              <a:gd name="adj3" fmla="val 8594"/>
            </a:avLst>
          </a:prstGeom>
          <a:solidFill>
            <a:srgbClr val="E40134">
              <a:alpha val="68630"/>
            </a:srgbClr>
          </a:solidFill>
          <a:ln>
            <a:noFill/>
          </a:ln>
          <a:effectLst>
            <a:outerShdw blurRad="76200" dist="38100" dir="18900000" algn="bl" rotWithShape="0">
              <a:srgbClr val="E40134">
                <a:alpha val="6863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30"/>
        <p:cNvGrpSpPr/>
        <p:nvPr/>
      </p:nvGrpSpPr>
      <p:grpSpPr>
        <a:xfrm>
          <a:off x="0" y="0"/>
          <a:ext cx="0" cy="0"/>
          <a:chOff x="0" y="0"/>
          <a:chExt cx="0" cy="0"/>
        </a:xfrm>
      </p:grpSpPr>
      <p:sp>
        <p:nvSpPr>
          <p:cNvPr id="31" name="Google Shape;31;p13"/>
          <p:cNvSpPr txBox="1">
            <a:spLocks noGrp="1"/>
          </p:cNvSpPr>
          <p:nvPr>
            <p:ph type="title"/>
          </p:nvPr>
        </p:nvSpPr>
        <p:spPr>
          <a:xfrm>
            <a:off x="838200" y="1332877"/>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Font typeface="Montserrat"/>
              <a:buNone/>
              <a:defRPr>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3"/>
          <p:cNvSpPr txBox="1">
            <a:spLocks noGrp="1"/>
          </p:cNvSpPr>
          <p:nvPr>
            <p:ph type="body" idx="1"/>
          </p:nvPr>
        </p:nvSpPr>
        <p:spPr>
          <a:xfrm>
            <a:off x="884725" y="265857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Font typeface="Montserrat"/>
              <a:buChar char="•"/>
              <a:defRPr>
                <a:latin typeface="Montserrat"/>
                <a:ea typeface="Montserrat"/>
                <a:cs typeface="Montserrat"/>
                <a:sym typeface="Montserrat"/>
              </a:defRPr>
            </a:lvl1pPr>
            <a:lvl2pPr marL="914400" lvl="1"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2pPr>
            <a:lvl3pPr marL="1371600" lvl="2"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6pPr>
            <a:lvl7pPr marL="3200400" lvl="6"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7pPr>
            <a:lvl8pPr marL="3657600" lvl="7"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8pPr>
            <a:lvl9pPr marL="4114800" lvl="8" indent="-342900" algn="l">
              <a:lnSpc>
                <a:spcPct val="90000"/>
              </a:lnSpc>
              <a:spcBef>
                <a:spcPts val="500"/>
              </a:spcBef>
              <a:spcAft>
                <a:spcPts val="0"/>
              </a:spcAft>
              <a:buClr>
                <a:schemeClr val="dk1"/>
              </a:buClr>
              <a:buSzPts val="1800"/>
              <a:buFont typeface="Montserrat"/>
              <a:buChar char="•"/>
              <a:defRPr>
                <a:latin typeface="Montserrat"/>
                <a:ea typeface="Montserrat"/>
                <a:cs typeface="Montserrat"/>
                <a:sym typeface="Montserrat"/>
              </a:defRPr>
            </a:lvl9pPr>
          </a:lstStyle>
          <a:p>
            <a:endParaRPr/>
          </a:p>
        </p:txBody>
      </p:sp>
      <p:sp>
        <p:nvSpPr>
          <p:cNvPr id="33" name="Google Shape;33;p1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pic>
        <p:nvPicPr>
          <p:cNvPr id="36" name="Google Shape;36;p13"/>
          <p:cNvPicPr preferRelativeResize="0"/>
          <p:nvPr/>
        </p:nvPicPr>
        <p:blipFill rotWithShape="1">
          <a:blip r:embed="rId2">
            <a:alphaModFix/>
          </a:blip>
          <a:srcRect/>
          <a:stretch/>
        </p:blipFill>
        <p:spPr>
          <a:xfrm>
            <a:off x="47170" y="113273"/>
            <a:ext cx="1518775" cy="864000"/>
          </a:xfrm>
          <a:prstGeom prst="rect">
            <a:avLst/>
          </a:prstGeom>
          <a:noFill/>
          <a:ln>
            <a:noFill/>
          </a:ln>
        </p:spPr>
      </p:pic>
      <p:pic>
        <p:nvPicPr>
          <p:cNvPr id="37" name="Google Shape;37;p13"/>
          <p:cNvPicPr preferRelativeResize="0"/>
          <p:nvPr/>
        </p:nvPicPr>
        <p:blipFill rotWithShape="1">
          <a:blip r:embed="rId3">
            <a:alphaModFix/>
          </a:blip>
          <a:srcRect/>
          <a:stretch/>
        </p:blipFill>
        <p:spPr>
          <a:xfrm>
            <a:off x="11312967" y="5972537"/>
            <a:ext cx="879033" cy="792000"/>
          </a:xfrm>
          <a:prstGeom prst="rect">
            <a:avLst/>
          </a:prstGeom>
          <a:noFill/>
          <a:ln>
            <a:noFill/>
          </a:ln>
        </p:spPr>
      </p:pic>
      <p:sp>
        <p:nvSpPr>
          <p:cNvPr id="38" name="Google Shape;38;p13"/>
          <p:cNvSpPr/>
          <p:nvPr/>
        </p:nvSpPr>
        <p:spPr>
          <a:xfrm rot="-7719812">
            <a:off x="9091860" y="-2461867"/>
            <a:ext cx="3600024" cy="3600024"/>
          </a:xfrm>
          <a:prstGeom prst="blockArc">
            <a:avLst>
              <a:gd name="adj1" fmla="val 7269519"/>
              <a:gd name="adj2" fmla="val 63717"/>
              <a:gd name="adj3" fmla="val 8594"/>
            </a:avLst>
          </a:prstGeom>
          <a:solidFill>
            <a:srgbClr val="3CACB6">
              <a:alpha val="40000"/>
            </a:srgbClr>
          </a:solidFill>
          <a:ln>
            <a:noFill/>
          </a:ln>
          <a:effectLst>
            <a:outerShdw blurRad="76200" dist="38100" dir="18900000" algn="bl" rotWithShape="0">
              <a:srgbClr val="3CACB6">
                <a:alpha val="40000"/>
              </a:srgbClr>
            </a:outerShdw>
            <a:reflection stA="0" endPos="65000" dist="50800" dir="5400000" fadeDir="5400012"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 name="Google Shape;39;p13"/>
          <p:cNvSpPr/>
          <p:nvPr/>
        </p:nvSpPr>
        <p:spPr>
          <a:xfrm rot="-7719812">
            <a:off x="11555215" y="-786761"/>
            <a:ext cx="3600024" cy="3600024"/>
          </a:xfrm>
          <a:prstGeom prst="blockArc">
            <a:avLst>
              <a:gd name="adj1" fmla="val 10017621"/>
              <a:gd name="adj2" fmla="val 63717"/>
              <a:gd name="adj3" fmla="val 8594"/>
            </a:avLst>
          </a:prstGeom>
          <a:solidFill>
            <a:srgbClr val="E40134">
              <a:alpha val="40000"/>
            </a:srgbClr>
          </a:solidFill>
          <a:ln>
            <a:noFill/>
          </a:ln>
          <a:effectLst>
            <a:outerShdw blurRad="76200" dist="38100" dir="18900000" algn="bl" rotWithShape="0">
              <a:srgbClr val="E40134">
                <a:alpha val="40000"/>
              </a:srgbClr>
            </a:outerShdw>
            <a:reflection stA="0" endPos="65000" dist="50800" dir="5400000" fadeDir="5400012"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 name="Google Shape;40;p13"/>
          <p:cNvSpPr/>
          <p:nvPr/>
        </p:nvSpPr>
        <p:spPr>
          <a:xfrm>
            <a:off x="1933575" y="6530537"/>
            <a:ext cx="540000" cy="540000"/>
          </a:xfrm>
          <a:prstGeom prst="ellipse">
            <a:avLst/>
          </a:prstGeom>
          <a:solidFill>
            <a:srgbClr val="E40134">
              <a:alpha val="40000"/>
            </a:srgbClr>
          </a:solidFill>
          <a:ln>
            <a:noFill/>
          </a:ln>
          <a:effectLst>
            <a:outerShdw blurRad="76200" dist="38100" dir="2700000" algn="tl" rotWithShape="0">
              <a:srgbClr val="E40134">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 name="Google Shape;41;p13"/>
          <p:cNvSpPr/>
          <p:nvPr/>
        </p:nvSpPr>
        <p:spPr>
          <a:xfrm>
            <a:off x="-270000" y="5828537"/>
            <a:ext cx="540000" cy="540000"/>
          </a:xfrm>
          <a:prstGeom prst="ellipse">
            <a:avLst/>
          </a:prstGeom>
          <a:solidFill>
            <a:srgbClr val="3CACB6">
              <a:alpha val="40000"/>
            </a:srgbClr>
          </a:solidFill>
          <a:ln>
            <a:noFill/>
          </a:ln>
          <a:effectLst>
            <a:outerShdw blurRad="76200" dist="38100" dir="2700000" algn="tl" rotWithShape="0">
              <a:srgbClr val="3CACB6">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42"/>
        <p:cNvGrpSpPr/>
        <p:nvPr/>
      </p:nvGrpSpPr>
      <p:grpSpPr>
        <a:xfrm>
          <a:off x="0" y="0"/>
          <a:ext cx="0" cy="0"/>
          <a:chOff x="0" y="0"/>
          <a:chExt cx="0" cy="0"/>
        </a:xfrm>
      </p:grpSpPr>
      <p:sp>
        <p:nvSpPr>
          <p:cNvPr id="43" name="Google Shape;43;p1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4"/>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pic>
        <p:nvPicPr>
          <p:cNvPr id="46" name="Google Shape;46;p14"/>
          <p:cNvPicPr preferRelativeResize="0"/>
          <p:nvPr/>
        </p:nvPicPr>
        <p:blipFill rotWithShape="1">
          <a:blip r:embed="rId2">
            <a:alphaModFix/>
          </a:blip>
          <a:srcRect/>
          <a:stretch/>
        </p:blipFill>
        <p:spPr>
          <a:xfrm>
            <a:off x="47170" y="113273"/>
            <a:ext cx="1518775" cy="864000"/>
          </a:xfrm>
          <a:prstGeom prst="rect">
            <a:avLst/>
          </a:prstGeom>
          <a:noFill/>
          <a:ln>
            <a:noFill/>
          </a:ln>
        </p:spPr>
      </p:pic>
      <p:pic>
        <p:nvPicPr>
          <p:cNvPr id="47" name="Google Shape;47;p14"/>
          <p:cNvPicPr preferRelativeResize="0"/>
          <p:nvPr/>
        </p:nvPicPr>
        <p:blipFill rotWithShape="1">
          <a:blip r:embed="rId3">
            <a:alphaModFix/>
          </a:blip>
          <a:srcRect/>
          <a:stretch/>
        </p:blipFill>
        <p:spPr>
          <a:xfrm>
            <a:off x="11312967" y="5972537"/>
            <a:ext cx="879033" cy="792000"/>
          </a:xfrm>
          <a:prstGeom prst="rect">
            <a:avLst/>
          </a:prstGeom>
          <a:noFill/>
          <a:ln>
            <a:noFill/>
          </a:ln>
        </p:spPr>
      </p:pic>
      <p:sp>
        <p:nvSpPr>
          <p:cNvPr id="48" name="Google Shape;48;p14"/>
          <p:cNvSpPr/>
          <p:nvPr/>
        </p:nvSpPr>
        <p:spPr>
          <a:xfrm rot="-7719812">
            <a:off x="9091860" y="-2461867"/>
            <a:ext cx="3600024" cy="3600024"/>
          </a:xfrm>
          <a:prstGeom prst="blockArc">
            <a:avLst>
              <a:gd name="adj1" fmla="val 7269519"/>
              <a:gd name="adj2" fmla="val 63717"/>
              <a:gd name="adj3" fmla="val 8594"/>
            </a:avLst>
          </a:prstGeom>
          <a:solidFill>
            <a:srgbClr val="3CACB6">
              <a:alpha val="40000"/>
            </a:srgbClr>
          </a:solidFill>
          <a:ln>
            <a:noFill/>
          </a:ln>
          <a:effectLst>
            <a:outerShdw blurRad="76200" dist="38100" dir="18900000" algn="bl" rotWithShape="0">
              <a:srgbClr val="3CACB6">
                <a:alpha val="40000"/>
              </a:srgbClr>
            </a:outerShdw>
            <a:reflection stA="0" endPos="65000" dist="50800" dir="5400000" fadeDir="5400012"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 name="Google Shape;49;p14"/>
          <p:cNvSpPr/>
          <p:nvPr/>
        </p:nvSpPr>
        <p:spPr>
          <a:xfrm rot="-7719812">
            <a:off x="11555215" y="-786761"/>
            <a:ext cx="3600024" cy="3600024"/>
          </a:xfrm>
          <a:prstGeom prst="blockArc">
            <a:avLst>
              <a:gd name="adj1" fmla="val 10017621"/>
              <a:gd name="adj2" fmla="val 63717"/>
              <a:gd name="adj3" fmla="val 8594"/>
            </a:avLst>
          </a:prstGeom>
          <a:solidFill>
            <a:srgbClr val="E40134">
              <a:alpha val="40000"/>
            </a:srgbClr>
          </a:solidFill>
          <a:ln>
            <a:noFill/>
          </a:ln>
          <a:effectLst>
            <a:outerShdw blurRad="76200" dist="38100" dir="18900000" algn="bl" rotWithShape="0">
              <a:srgbClr val="E40134">
                <a:alpha val="40000"/>
              </a:srgbClr>
            </a:outerShdw>
            <a:reflection stA="0" endPos="65000" dist="50800" dir="5400000" fadeDir="5400012"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 name="Google Shape;50;p14"/>
          <p:cNvSpPr/>
          <p:nvPr/>
        </p:nvSpPr>
        <p:spPr>
          <a:xfrm>
            <a:off x="1933575" y="6530537"/>
            <a:ext cx="540000" cy="540000"/>
          </a:xfrm>
          <a:prstGeom prst="ellipse">
            <a:avLst/>
          </a:prstGeom>
          <a:solidFill>
            <a:srgbClr val="E40134">
              <a:alpha val="40000"/>
            </a:srgbClr>
          </a:solidFill>
          <a:ln>
            <a:noFill/>
          </a:ln>
          <a:effectLst>
            <a:outerShdw blurRad="76200" dist="38100" dir="2700000" algn="tl" rotWithShape="0">
              <a:srgbClr val="E40134">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1" name="Google Shape;51;p14"/>
          <p:cNvSpPr/>
          <p:nvPr/>
        </p:nvSpPr>
        <p:spPr>
          <a:xfrm>
            <a:off x="-270000" y="5828537"/>
            <a:ext cx="540000" cy="540000"/>
          </a:xfrm>
          <a:prstGeom prst="ellipse">
            <a:avLst/>
          </a:prstGeom>
          <a:solidFill>
            <a:srgbClr val="3CACB6">
              <a:alpha val="40000"/>
            </a:srgbClr>
          </a:solidFill>
          <a:ln>
            <a:noFill/>
          </a:ln>
          <a:effectLst>
            <a:outerShdw blurRad="76200" dist="38100" dir="2700000" algn="tl" rotWithShape="0">
              <a:srgbClr val="3CACB6">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52"/>
        <p:cNvGrpSpPr/>
        <p:nvPr/>
      </p:nvGrpSpPr>
      <p:grpSpPr>
        <a:xfrm>
          <a:off x="0" y="0"/>
          <a:ext cx="0" cy="0"/>
          <a:chOff x="0" y="0"/>
          <a:chExt cx="0" cy="0"/>
        </a:xfrm>
      </p:grpSpPr>
      <p:sp>
        <p:nvSpPr>
          <p:cNvPr id="53" name="Google Shape;53;p15"/>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5"/>
          <p:cNvSpPr txBox="1">
            <a:spLocks noGrp="1"/>
          </p:cNvSpPr>
          <p:nvPr>
            <p:ph type="body" idx="1"/>
          </p:nvPr>
        </p:nvSpPr>
        <p:spPr>
          <a:xfrm>
            <a:off x="831851" y="4589465"/>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5" name="Google Shape;55;p1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1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839788"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8" name="Google Shape;68;p17"/>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7"/>
          <p:cNvSpPr txBox="1">
            <a:spLocks noGrp="1"/>
          </p:cNvSpPr>
          <p:nvPr>
            <p:ph type="body" idx="3"/>
          </p:nvPr>
        </p:nvSpPr>
        <p:spPr>
          <a:xfrm>
            <a:off x="6172201"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0" name="Google Shape;70;p17"/>
          <p:cNvSpPr txBox="1">
            <a:spLocks noGrp="1"/>
          </p:cNvSpPr>
          <p:nvPr>
            <p:ph type="body" idx="4"/>
          </p:nvPr>
        </p:nvSpPr>
        <p:spPr>
          <a:xfrm>
            <a:off x="6172201"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8"/>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9"/>
          <p:cNvSpPr txBox="1">
            <a:spLocks noGrp="1"/>
          </p:cNvSpPr>
          <p:nvPr>
            <p:ph type="body" idx="1"/>
          </p:nvPr>
        </p:nvSpPr>
        <p:spPr>
          <a:xfrm>
            <a:off x="5183188" y="987427"/>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2" name="Google Shape;82;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1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0"/>
          <p:cNvSpPr>
            <a:spLocks noGrp="1"/>
          </p:cNvSpPr>
          <p:nvPr>
            <p:ph type="pic" idx="2"/>
          </p:nvPr>
        </p:nvSpPr>
        <p:spPr>
          <a:xfrm>
            <a:off x="5183188" y="987427"/>
            <a:ext cx="6172200" cy="4873625"/>
          </a:xfrm>
          <a:prstGeom prst="rect">
            <a:avLst/>
          </a:prstGeom>
          <a:noFill/>
          <a:ln>
            <a:noFill/>
          </a:ln>
        </p:spPr>
      </p:sp>
      <p:sp>
        <p:nvSpPr>
          <p:cNvPr id="89" name="Google Shape;89;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2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0"/>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99"/>
        <p:cNvGrpSpPr/>
        <p:nvPr/>
      </p:nvGrpSpPr>
      <p:grpSpPr>
        <a:xfrm>
          <a:off x="0" y="0"/>
          <a:ext cx="0" cy="0"/>
          <a:chOff x="0" y="0"/>
          <a:chExt cx="0" cy="0"/>
        </a:xfrm>
      </p:grpSpPr>
      <p:sp>
        <p:nvSpPr>
          <p:cNvPr id="100" name="Google Shape;100;p22"/>
          <p:cNvSpPr txBox="1">
            <a:spLocks noGrp="1"/>
          </p:cNvSpPr>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2"/>
          <p:cNvSpPr txBox="1">
            <a:spLocks noGrp="1"/>
          </p:cNvSpPr>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22"/>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5731455" y="2950203"/>
            <a:ext cx="5760000" cy="18000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oppins Medium"/>
              <a:buNone/>
            </a:pPr>
            <a:r>
              <a:rPr lang="fr-FR">
                <a:latin typeface="Montserrat"/>
                <a:ea typeface="Montserrat"/>
                <a:cs typeface="Montserrat"/>
                <a:sym typeface="Montserrat"/>
              </a:rPr>
              <a:t>Proposition commerciale</a:t>
            </a:r>
            <a:endParaRPr>
              <a:latin typeface="Montserrat"/>
              <a:ea typeface="Montserrat"/>
              <a:cs typeface="Montserrat"/>
              <a:sym typeface="Montserrat"/>
            </a:endParaRPr>
          </a:p>
        </p:txBody>
      </p:sp>
      <p:sp>
        <p:nvSpPr>
          <p:cNvPr id="110" name="Google Shape;110;p1"/>
          <p:cNvSpPr txBox="1">
            <a:spLocks noGrp="1"/>
          </p:cNvSpPr>
          <p:nvPr>
            <p:ph type="subTitle" idx="1"/>
          </p:nvPr>
        </p:nvSpPr>
        <p:spPr>
          <a:xfrm>
            <a:off x="5731454" y="4750205"/>
            <a:ext cx="5951700" cy="621000"/>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SzPts val="2000"/>
              <a:buNone/>
            </a:pPr>
            <a:r>
              <a:rPr lang="fr-FR" sz="2000" dirty="0">
                <a:latin typeface="Montserrat"/>
                <a:ea typeface="Montserrat"/>
                <a:cs typeface="Montserrat"/>
                <a:sym typeface="Montserrat"/>
              </a:rPr>
              <a:t>A l’attention de</a:t>
            </a:r>
            <a:r>
              <a:rPr lang="fr-FR" sz="2000" dirty="0">
                <a:sym typeface="Montserrat"/>
              </a:rPr>
              <a:t> </a:t>
            </a:r>
            <a:r>
              <a:rPr lang="fr-FR" sz="2000" dirty="0" smtClean="0"/>
              <a:t>{{etude.prospect.name}} </a:t>
            </a:r>
            <a:r>
              <a:rPr lang="fr-FR" sz="2000" dirty="0" smtClean="0">
                <a:latin typeface="Montserrat"/>
                <a:ea typeface="Montserrat"/>
                <a:cs typeface="Montserrat"/>
                <a:sym typeface="Montserrat"/>
              </a:rPr>
              <a:t>le {{date}}</a:t>
            </a:r>
            <a:endParaRPr sz="2000" dirty="0">
              <a:latin typeface="Montserrat"/>
              <a:ea typeface="Montserrat"/>
              <a:cs typeface="Montserrat"/>
              <a:sym typeface="Montserrat"/>
            </a:endParaRPr>
          </a:p>
          <a:p>
            <a:pPr marL="0" lvl="0" indent="0" algn="ctr" rtl="0">
              <a:lnSpc>
                <a:spcPct val="150000"/>
              </a:lnSpc>
              <a:spcBef>
                <a:spcPts val="0"/>
              </a:spcBef>
              <a:spcAft>
                <a:spcPts val="0"/>
              </a:spcAft>
              <a:buClr>
                <a:schemeClr val="dk1"/>
              </a:buClr>
              <a:buSzPts val="2000"/>
              <a:buNone/>
            </a:pPr>
            <a:r>
              <a:rPr lang="fr-FR" sz="1600" dirty="0">
                <a:latin typeface="Montserrat"/>
                <a:ea typeface="Montserrat"/>
                <a:cs typeface="Montserrat"/>
                <a:sym typeface="Montserrat"/>
              </a:rPr>
              <a:t>Ce devis n’a aucune valeur contractuelle.</a:t>
            </a:r>
            <a:endParaRPr dirty="0">
              <a:latin typeface="Montserrat"/>
              <a:ea typeface="Montserrat"/>
              <a:cs typeface="Montserrat"/>
              <a:sym typeface="Montserrat"/>
            </a:endParaRPr>
          </a:p>
          <a:p>
            <a:pPr marL="0" lvl="0" indent="0" algn="ctr" rtl="0">
              <a:lnSpc>
                <a:spcPct val="150000"/>
              </a:lnSpc>
              <a:spcBef>
                <a:spcPts val="0"/>
              </a:spcBef>
              <a:spcAft>
                <a:spcPts val="0"/>
              </a:spcAft>
              <a:buClr>
                <a:schemeClr val="dk1"/>
              </a:buClr>
              <a:buSzPts val="2000"/>
              <a:buNone/>
            </a:pPr>
            <a:r>
              <a:rPr lang="fr-FR" sz="1600" dirty="0">
                <a:latin typeface="Montserrat"/>
                <a:ea typeface="Montserrat"/>
                <a:cs typeface="Montserrat"/>
                <a:sym typeface="Montserrat"/>
              </a:rPr>
              <a:t>Valable un mois à compter de sa date d’émission </a:t>
            </a:r>
            <a:endParaRPr sz="1600" dirty="0">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txBox="1">
            <a:spLocks noGrp="1"/>
          </p:cNvSpPr>
          <p:nvPr>
            <p:ph type="title"/>
          </p:nvPr>
        </p:nvSpPr>
        <p:spPr>
          <a:xfrm>
            <a:off x="1933575" y="197095"/>
            <a:ext cx="7365033" cy="6286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Poppins"/>
              <a:buNone/>
            </a:pPr>
            <a:r>
              <a:rPr lang="fr-FR" sz="3563">
                <a:latin typeface="Montserrat"/>
                <a:ea typeface="Montserrat"/>
                <a:cs typeface="Montserrat"/>
                <a:sym typeface="Montserrat"/>
              </a:rPr>
              <a:t>Présentation de Ouest INSA</a:t>
            </a:r>
            <a:endParaRPr sz="3959">
              <a:latin typeface="Montserrat"/>
              <a:ea typeface="Montserrat"/>
              <a:cs typeface="Montserrat"/>
              <a:sym typeface="Montserrat"/>
            </a:endParaRPr>
          </a:p>
        </p:txBody>
      </p:sp>
      <p:sp>
        <p:nvSpPr>
          <p:cNvPr id="116" name="Google Shape;116;p2"/>
          <p:cNvSpPr txBox="1"/>
          <p:nvPr/>
        </p:nvSpPr>
        <p:spPr>
          <a:xfrm>
            <a:off x="1191440" y="1393341"/>
            <a:ext cx="9809100" cy="286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dirty="0">
                <a:solidFill>
                  <a:schemeClr val="dk1"/>
                </a:solidFill>
                <a:latin typeface="Montserrat"/>
                <a:ea typeface="Montserrat"/>
                <a:cs typeface="Montserrat"/>
                <a:sym typeface="Montserrat"/>
              </a:rPr>
              <a:t>Ouest INSA est une association à but non lucratif de type loi 1901, au service des étudiants et entreprises depuis 1983. Titulaire du </a:t>
            </a:r>
            <a:r>
              <a:rPr lang="fr-FR" sz="1800" b="1" i="0" u="none" strike="noStrike" cap="none" dirty="0">
                <a:solidFill>
                  <a:schemeClr val="dk1"/>
                </a:solidFill>
                <a:latin typeface="Montserrat"/>
                <a:ea typeface="Montserrat"/>
                <a:cs typeface="Montserrat"/>
                <a:sym typeface="Montserrat"/>
              </a:rPr>
              <a:t>label Junior-Entreprise®,</a:t>
            </a:r>
            <a:r>
              <a:rPr lang="fr-FR" sz="1800" b="0" i="0" u="none" strike="noStrike" cap="none" dirty="0">
                <a:solidFill>
                  <a:schemeClr val="dk1"/>
                </a:solidFill>
                <a:latin typeface="Montserrat"/>
                <a:ea typeface="Montserrat"/>
                <a:cs typeface="Montserrat"/>
                <a:sym typeface="Montserrat"/>
              </a:rPr>
              <a:t> gage de qualité et de sérieux, délivré par la Confédération Nationale des Junior-Entreprises (CNJE).</a:t>
            </a:r>
            <a:endParaRPr sz="1800" b="0" i="0" u="none" strike="noStrike" cap="none" dirty="0">
              <a:solidFill>
                <a:schemeClr val="dk1"/>
              </a:solidFill>
              <a:latin typeface="Montserrat"/>
              <a:ea typeface="Montserrat"/>
              <a:cs typeface="Montserrat"/>
              <a:sym typeface="Montserrat"/>
            </a:endParaRPr>
          </a:p>
          <a:p>
            <a:pPr lvl="0">
              <a:buSzPts val="1800"/>
            </a:pPr>
            <a:r>
              <a:rPr lang="fr-FR" sz="1800" b="0" i="0" u="none" strike="noStrike" cap="none" dirty="0">
                <a:solidFill>
                  <a:schemeClr val="dk1"/>
                </a:solidFill>
                <a:latin typeface="Montserrat"/>
                <a:ea typeface="Montserrat"/>
                <a:cs typeface="Montserrat"/>
                <a:sym typeface="Montserrat"/>
              </a:rPr>
              <a:t>Lien vers le site de </a:t>
            </a:r>
            <a:r>
              <a:rPr lang="fr-FR" sz="1800" b="0" i="0" u="none" strike="noStrike" cap="none" dirty="0" smtClean="0">
                <a:solidFill>
                  <a:schemeClr val="dk1"/>
                </a:solidFill>
                <a:latin typeface="Montserrat"/>
                <a:ea typeface="Montserrat"/>
                <a:cs typeface="Montserrat"/>
                <a:sym typeface="Montserrat"/>
              </a:rPr>
              <a:t>Ouest </a:t>
            </a:r>
            <a:r>
              <a:rPr lang="fr-FR" sz="1800" b="0" i="0" u="none" strike="noStrike" cap="none" dirty="0">
                <a:solidFill>
                  <a:schemeClr val="dk1"/>
                </a:solidFill>
                <a:latin typeface="Montserrat"/>
                <a:ea typeface="Montserrat"/>
                <a:cs typeface="Montserrat"/>
                <a:sym typeface="Montserrat"/>
              </a:rPr>
              <a:t>INSA : </a:t>
            </a:r>
            <a:r>
              <a:rPr lang="fr-FR" sz="1800" dirty="0" smtClean="0">
                <a:latin typeface="Montserrat" panose="00000500000000000000" pitchFamily="2" charset="0"/>
              </a:rPr>
              <a:t>{{ </a:t>
            </a:r>
            <a:r>
              <a:rPr lang="fr-FR" sz="1800" dirty="0" err="1">
                <a:latin typeface="Montserrat" panose="00000500000000000000" pitchFamily="2" charset="0"/>
              </a:rPr>
              <a:t>param</a:t>
            </a:r>
            <a:r>
              <a:rPr lang="fr-FR" sz="1800" dirty="0">
                <a:latin typeface="Montserrat" panose="00000500000000000000" pitchFamily="2" charset="0"/>
              </a:rPr>
              <a:t>(</a:t>
            </a:r>
            <a:r>
              <a:rPr lang="fr-FR" sz="1800" dirty="0" smtClean="0">
                <a:latin typeface="Montserrat" panose="00000500000000000000" pitchFamily="2" charset="0"/>
              </a:rPr>
              <a:t>'</a:t>
            </a:r>
            <a:r>
              <a:rPr lang="fr-FR" sz="1800" dirty="0" err="1" smtClean="0">
                <a:latin typeface="Montserrat" panose="00000500000000000000" pitchFamily="2" charset="0"/>
              </a:rPr>
              <a:t>je_url</a:t>
            </a:r>
            <a:r>
              <a:rPr lang="fr-FR" sz="1800" dirty="0" smtClean="0">
                <a:latin typeface="Montserrat" panose="00000500000000000000" pitchFamily="2" charset="0"/>
              </a:rPr>
              <a:t>') </a:t>
            </a:r>
            <a:r>
              <a:rPr lang="fr-FR" sz="1800" dirty="0">
                <a:latin typeface="Montserrat" panose="00000500000000000000" pitchFamily="2" charset="0"/>
              </a:rPr>
              <a:t>}}</a:t>
            </a:r>
            <a:endParaRPr sz="1800" b="0" i="0" u="none" strike="noStrike" cap="none" dirty="0">
              <a:solidFill>
                <a:schemeClr val="dk1"/>
              </a:solidFill>
              <a:latin typeface="Montserrat" panose="00000500000000000000" pitchFamily="2" charset="0"/>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dirty="0">
                <a:solidFill>
                  <a:schemeClr val="dk1"/>
                </a:solidFill>
                <a:latin typeface="Montserrat"/>
                <a:ea typeface="Montserrat"/>
                <a:cs typeface="Montserrat"/>
                <a:sym typeface="Montserrat"/>
              </a:rPr>
              <a:t>Lien vers le site de la CNJE : www.junior-entreprises.com</a:t>
            </a:r>
            <a:endParaRPr sz="1800" b="0" i="0" u="none" strike="noStrike" cap="none" dirty="0">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0" i="0" u="none" strike="noStrike" cap="none" dirty="0">
                <a:solidFill>
                  <a:schemeClr val="dk1"/>
                </a:solidFill>
                <a:latin typeface="Montserrat"/>
                <a:ea typeface="Montserrat"/>
                <a:cs typeface="Montserrat"/>
                <a:sym typeface="Montserrat"/>
              </a:rPr>
              <a:t>Les prestations sont facturées en </a:t>
            </a:r>
            <a:r>
              <a:rPr lang="fr-FR" sz="1800" b="1" i="0" u="none" strike="noStrike" cap="none" dirty="0">
                <a:solidFill>
                  <a:schemeClr val="dk1"/>
                </a:solidFill>
                <a:latin typeface="Montserrat"/>
                <a:ea typeface="Montserrat"/>
                <a:cs typeface="Montserrat"/>
                <a:sym typeface="Montserrat"/>
              </a:rPr>
              <a:t>JEH</a:t>
            </a:r>
            <a:r>
              <a:rPr lang="fr-FR" sz="1800" b="0" i="0" u="none" strike="noStrike" cap="none" dirty="0">
                <a:solidFill>
                  <a:schemeClr val="dk1"/>
                </a:solidFill>
                <a:latin typeface="Montserrat"/>
                <a:ea typeface="Montserrat"/>
                <a:cs typeface="Montserrat"/>
                <a:sym typeface="Montserrat"/>
              </a:rPr>
              <a:t> (Jour Etude Homme). Ils sont indivisibles et correspondent à une journée de travail pour un ingénieur</a:t>
            </a:r>
            <a:endParaRPr sz="1400" b="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8aa60a07a6_0_923"/>
          <p:cNvSpPr txBox="1">
            <a:spLocks noGrp="1"/>
          </p:cNvSpPr>
          <p:nvPr>
            <p:ph type="title"/>
          </p:nvPr>
        </p:nvSpPr>
        <p:spPr>
          <a:xfrm>
            <a:off x="1933575" y="197095"/>
            <a:ext cx="7365000" cy="62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59"/>
              <a:buFont typeface="Poppins"/>
              <a:buNone/>
            </a:pPr>
            <a:r>
              <a:rPr lang="fr-FR" sz="3959">
                <a:latin typeface="Montserrat"/>
                <a:ea typeface="Montserrat"/>
                <a:cs typeface="Montserrat"/>
                <a:sym typeface="Montserrat"/>
              </a:rPr>
              <a:t>Présentation de Ouest INSA</a:t>
            </a:r>
            <a:endParaRPr>
              <a:latin typeface="Montserrat"/>
              <a:ea typeface="Montserrat"/>
              <a:cs typeface="Montserrat"/>
              <a:sym typeface="Montserrat"/>
            </a:endParaRPr>
          </a:p>
        </p:txBody>
      </p:sp>
      <p:pic>
        <p:nvPicPr>
          <p:cNvPr id="122" name="Google Shape;122;g8aa60a07a6_0_923"/>
          <p:cNvPicPr preferRelativeResize="0"/>
          <p:nvPr/>
        </p:nvPicPr>
        <p:blipFill rotWithShape="1">
          <a:blip r:embed="rId3">
            <a:alphaModFix/>
          </a:blip>
          <a:srcRect/>
          <a:stretch/>
        </p:blipFill>
        <p:spPr>
          <a:xfrm>
            <a:off x="3708314" y="1509152"/>
            <a:ext cx="4567625" cy="4576079"/>
          </a:xfrm>
          <a:prstGeom prst="rect">
            <a:avLst/>
          </a:prstGeom>
          <a:noFill/>
          <a:ln>
            <a:noFill/>
          </a:ln>
        </p:spPr>
      </p:pic>
      <p:pic>
        <p:nvPicPr>
          <p:cNvPr id="123" name="Google Shape;123;g8aa60a07a6_0_923"/>
          <p:cNvPicPr preferRelativeResize="0"/>
          <p:nvPr/>
        </p:nvPicPr>
        <p:blipFill rotWithShape="1">
          <a:blip r:embed="rId4">
            <a:alphaModFix/>
          </a:blip>
          <a:srcRect/>
          <a:stretch/>
        </p:blipFill>
        <p:spPr>
          <a:xfrm>
            <a:off x="8275950" y="1509150"/>
            <a:ext cx="3355850" cy="1713850"/>
          </a:xfrm>
          <a:prstGeom prst="rect">
            <a:avLst/>
          </a:prstGeom>
          <a:noFill/>
          <a:ln>
            <a:noFill/>
          </a:ln>
        </p:spPr>
      </p:pic>
      <p:pic>
        <p:nvPicPr>
          <p:cNvPr id="124" name="Google Shape;124;g8aa60a07a6_0_923"/>
          <p:cNvPicPr preferRelativeResize="0"/>
          <p:nvPr/>
        </p:nvPicPr>
        <p:blipFill rotWithShape="1">
          <a:blip r:embed="rId5">
            <a:alphaModFix/>
          </a:blip>
          <a:srcRect/>
          <a:stretch/>
        </p:blipFill>
        <p:spPr>
          <a:xfrm>
            <a:off x="8275950" y="3669100"/>
            <a:ext cx="3477525" cy="1504375"/>
          </a:xfrm>
          <a:prstGeom prst="rect">
            <a:avLst/>
          </a:prstGeom>
          <a:noFill/>
          <a:ln>
            <a:noFill/>
          </a:ln>
        </p:spPr>
      </p:pic>
      <p:pic>
        <p:nvPicPr>
          <p:cNvPr id="125" name="Google Shape;125;g8aa60a07a6_0_923"/>
          <p:cNvPicPr preferRelativeResize="0"/>
          <p:nvPr/>
        </p:nvPicPr>
        <p:blipFill rotWithShape="1">
          <a:blip r:embed="rId6">
            <a:alphaModFix/>
          </a:blip>
          <a:srcRect/>
          <a:stretch/>
        </p:blipFill>
        <p:spPr>
          <a:xfrm>
            <a:off x="724350" y="3708348"/>
            <a:ext cx="3015600" cy="1576350"/>
          </a:xfrm>
          <a:prstGeom prst="rect">
            <a:avLst/>
          </a:prstGeom>
          <a:noFill/>
          <a:ln>
            <a:noFill/>
          </a:ln>
        </p:spPr>
      </p:pic>
      <p:pic>
        <p:nvPicPr>
          <p:cNvPr id="126" name="Google Shape;126;g8aa60a07a6_0_923"/>
          <p:cNvPicPr preferRelativeResize="0"/>
          <p:nvPr/>
        </p:nvPicPr>
        <p:blipFill rotWithShape="1">
          <a:blip r:embed="rId7">
            <a:alphaModFix/>
          </a:blip>
          <a:srcRect/>
          <a:stretch/>
        </p:blipFill>
        <p:spPr>
          <a:xfrm>
            <a:off x="517750" y="1509150"/>
            <a:ext cx="3235475" cy="1789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8aa60a07a6_0_908"/>
          <p:cNvSpPr txBox="1">
            <a:spLocks noGrp="1"/>
          </p:cNvSpPr>
          <p:nvPr>
            <p:ph type="title"/>
          </p:nvPr>
        </p:nvSpPr>
        <p:spPr>
          <a:xfrm>
            <a:off x="1933575" y="197095"/>
            <a:ext cx="7365000" cy="6288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59"/>
              <a:buFont typeface="Poppins"/>
              <a:buNone/>
            </a:pPr>
            <a:r>
              <a:rPr lang="fr-FR" sz="3959">
                <a:latin typeface="Montserrat"/>
                <a:ea typeface="Montserrat"/>
                <a:cs typeface="Montserrat"/>
                <a:sym typeface="Montserrat"/>
              </a:rPr>
              <a:t>Présentation de Ouest INSA</a:t>
            </a:r>
            <a:endParaRPr>
              <a:latin typeface="Montserrat"/>
              <a:ea typeface="Montserrat"/>
              <a:cs typeface="Montserrat"/>
              <a:sym typeface="Montserrat"/>
            </a:endParaRPr>
          </a:p>
        </p:txBody>
      </p:sp>
      <p:pic>
        <p:nvPicPr>
          <p:cNvPr id="132" name="Google Shape;132;g8aa60a07a6_0_908"/>
          <p:cNvPicPr preferRelativeResize="0"/>
          <p:nvPr/>
        </p:nvPicPr>
        <p:blipFill rotWithShape="1">
          <a:blip r:embed="rId3">
            <a:alphaModFix/>
          </a:blip>
          <a:srcRect/>
          <a:stretch/>
        </p:blipFill>
        <p:spPr>
          <a:xfrm>
            <a:off x="1564063" y="2496270"/>
            <a:ext cx="1080000" cy="1080000"/>
          </a:xfrm>
          <a:prstGeom prst="rect">
            <a:avLst/>
          </a:prstGeom>
          <a:noFill/>
          <a:ln>
            <a:noFill/>
          </a:ln>
        </p:spPr>
      </p:pic>
      <p:pic>
        <p:nvPicPr>
          <p:cNvPr id="133" name="Google Shape;133;g8aa60a07a6_0_908"/>
          <p:cNvPicPr preferRelativeResize="0"/>
          <p:nvPr/>
        </p:nvPicPr>
        <p:blipFill rotWithShape="1">
          <a:blip r:embed="rId4">
            <a:alphaModFix/>
          </a:blip>
          <a:srcRect/>
          <a:stretch/>
        </p:blipFill>
        <p:spPr>
          <a:xfrm>
            <a:off x="7197550" y="2496145"/>
            <a:ext cx="1072800" cy="1080250"/>
          </a:xfrm>
          <a:prstGeom prst="rect">
            <a:avLst/>
          </a:prstGeom>
          <a:noFill/>
          <a:ln>
            <a:noFill/>
          </a:ln>
        </p:spPr>
      </p:pic>
      <p:pic>
        <p:nvPicPr>
          <p:cNvPr id="134" name="Google Shape;134;g8aa60a07a6_0_908"/>
          <p:cNvPicPr preferRelativeResize="0"/>
          <p:nvPr/>
        </p:nvPicPr>
        <p:blipFill rotWithShape="1">
          <a:blip r:embed="rId5">
            <a:alphaModFix/>
          </a:blip>
          <a:srcRect/>
          <a:stretch/>
        </p:blipFill>
        <p:spPr>
          <a:xfrm>
            <a:off x="4380800" y="2496283"/>
            <a:ext cx="1080000" cy="1080000"/>
          </a:xfrm>
          <a:prstGeom prst="rect">
            <a:avLst/>
          </a:prstGeom>
          <a:noFill/>
          <a:ln>
            <a:noFill/>
          </a:ln>
        </p:spPr>
      </p:pic>
      <p:pic>
        <p:nvPicPr>
          <p:cNvPr id="135" name="Google Shape;135;g8aa60a07a6_0_908"/>
          <p:cNvPicPr preferRelativeResize="0"/>
          <p:nvPr/>
        </p:nvPicPr>
        <p:blipFill rotWithShape="1">
          <a:blip r:embed="rId6">
            <a:alphaModFix/>
          </a:blip>
          <a:srcRect/>
          <a:stretch/>
        </p:blipFill>
        <p:spPr>
          <a:xfrm>
            <a:off x="10007100" y="2496283"/>
            <a:ext cx="1080000" cy="1080000"/>
          </a:xfrm>
          <a:prstGeom prst="rect">
            <a:avLst/>
          </a:prstGeom>
          <a:noFill/>
          <a:ln>
            <a:noFill/>
          </a:ln>
        </p:spPr>
      </p:pic>
      <p:pic>
        <p:nvPicPr>
          <p:cNvPr id="136" name="Google Shape;136;g8aa60a07a6_0_908"/>
          <p:cNvPicPr preferRelativeResize="0"/>
          <p:nvPr/>
        </p:nvPicPr>
        <p:blipFill rotWithShape="1">
          <a:blip r:embed="rId7">
            <a:alphaModFix/>
          </a:blip>
          <a:srcRect/>
          <a:stretch/>
        </p:blipFill>
        <p:spPr>
          <a:xfrm>
            <a:off x="727700" y="3576408"/>
            <a:ext cx="2752725" cy="2124075"/>
          </a:xfrm>
          <a:prstGeom prst="rect">
            <a:avLst/>
          </a:prstGeom>
          <a:noFill/>
          <a:ln>
            <a:noFill/>
          </a:ln>
          <a:effectLst>
            <a:reflection endPos="30000" dist="38100" dir="5400000" fadeDir="5400012" sy="-100000" algn="bl" rotWithShape="0"/>
          </a:effectLst>
        </p:spPr>
      </p:pic>
      <p:pic>
        <p:nvPicPr>
          <p:cNvPr id="137" name="Google Shape;137;g8aa60a07a6_0_908"/>
          <p:cNvPicPr preferRelativeResize="0"/>
          <p:nvPr/>
        </p:nvPicPr>
        <p:blipFill rotWithShape="1">
          <a:blip r:embed="rId8">
            <a:alphaModFix/>
          </a:blip>
          <a:srcRect/>
          <a:stretch/>
        </p:blipFill>
        <p:spPr>
          <a:xfrm>
            <a:off x="1017713" y="4564108"/>
            <a:ext cx="2371725" cy="733425"/>
          </a:xfrm>
          <a:prstGeom prst="rect">
            <a:avLst/>
          </a:prstGeom>
          <a:noFill/>
          <a:ln>
            <a:noFill/>
          </a:ln>
        </p:spPr>
      </p:pic>
      <p:pic>
        <p:nvPicPr>
          <p:cNvPr id="138" name="Google Shape;138;g8aa60a07a6_0_908"/>
          <p:cNvPicPr preferRelativeResize="0"/>
          <p:nvPr/>
        </p:nvPicPr>
        <p:blipFill rotWithShape="1">
          <a:blip r:embed="rId9">
            <a:alphaModFix/>
          </a:blip>
          <a:srcRect/>
          <a:stretch/>
        </p:blipFill>
        <p:spPr>
          <a:xfrm>
            <a:off x="4020675" y="3576283"/>
            <a:ext cx="1800225" cy="1609725"/>
          </a:xfrm>
          <a:prstGeom prst="rect">
            <a:avLst/>
          </a:prstGeom>
          <a:noFill/>
          <a:ln>
            <a:noFill/>
          </a:ln>
        </p:spPr>
      </p:pic>
      <p:pic>
        <p:nvPicPr>
          <p:cNvPr id="139" name="Google Shape;139;g8aa60a07a6_0_908"/>
          <p:cNvPicPr preferRelativeResize="0"/>
          <p:nvPr/>
        </p:nvPicPr>
        <p:blipFill rotWithShape="1">
          <a:blip r:embed="rId10">
            <a:alphaModFix/>
          </a:blip>
          <a:srcRect/>
          <a:stretch/>
        </p:blipFill>
        <p:spPr>
          <a:xfrm>
            <a:off x="4211188" y="4564108"/>
            <a:ext cx="1419225" cy="952500"/>
          </a:xfrm>
          <a:prstGeom prst="rect">
            <a:avLst/>
          </a:prstGeom>
          <a:noFill/>
          <a:ln>
            <a:noFill/>
          </a:ln>
        </p:spPr>
      </p:pic>
      <p:pic>
        <p:nvPicPr>
          <p:cNvPr id="140" name="Google Shape;140;g8aa60a07a6_0_908"/>
          <p:cNvPicPr preferRelativeResize="0"/>
          <p:nvPr/>
        </p:nvPicPr>
        <p:blipFill rotWithShape="1">
          <a:blip r:embed="rId11">
            <a:alphaModFix/>
          </a:blip>
          <a:srcRect/>
          <a:stretch/>
        </p:blipFill>
        <p:spPr>
          <a:xfrm>
            <a:off x="6587088" y="3576270"/>
            <a:ext cx="1914525" cy="1609725"/>
          </a:xfrm>
          <a:prstGeom prst="rect">
            <a:avLst/>
          </a:prstGeom>
          <a:noFill/>
          <a:ln>
            <a:noFill/>
          </a:ln>
        </p:spPr>
      </p:pic>
      <p:pic>
        <p:nvPicPr>
          <p:cNvPr id="141" name="Google Shape;141;g8aa60a07a6_0_908"/>
          <p:cNvPicPr preferRelativeResize="0"/>
          <p:nvPr/>
        </p:nvPicPr>
        <p:blipFill rotWithShape="1">
          <a:blip r:embed="rId12">
            <a:alphaModFix/>
          </a:blip>
          <a:srcRect/>
          <a:stretch/>
        </p:blipFill>
        <p:spPr>
          <a:xfrm>
            <a:off x="6786200" y="4545058"/>
            <a:ext cx="1876425" cy="771525"/>
          </a:xfrm>
          <a:prstGeom prst="rect">
            <a:avLst/>
          </a:prstGeom>
          <a:noFill/>
          <a:ln>
            <a:noFill/>
          </a:ln>
        </p:spPr>
      </p:pic>
      <p:pic>
        <p:nvPicPr>
          <p:cNvPr id="142" name="Google Shape;142;g8aa60a07a6_0_908"/>
          <p:cNvPicPr preferRelativeResize="0"/>
          <p:nvPr/>
        </p:nvPicPr>
        <p:blipFill rotWithShape="1">
          <a:blip r:embed="rId13">
            <a:alphaModFix/>
          </a:blip>
          <a:srcRect/>
          <a:stretch/>
        </p:blipFill>
        <p:spPr>
          <a:xfrm>
            <a:off x="9627925" y="3576270"/>
            <a:ext cx="1838325" cy="1609725"/>
          </a:xfrm>
          <a:prstGeom prst="rect">
            <a:avLst/>
          </a:prstGeom>
          <a:noFill/>
          <a:ln>
            <a:noFill/>
          </a:ln>
        </p:spPr>
      </p:pic>
      <p:pic>
        <p:nvPicPr>
          <p:cNvPr id="143" name="Google Shape;143;g8aa60a07a6_0_908"/>
          <p:cNvPicPr preferRelativeResize="0"/>
          <p:nvPr/>
        </p:nvPicPr>
        <p:blipFill rotWithShape="1">
          <a:blip r:embed="rId14">
            <a:alphaModFix/>
          </a:blip>
          <a:srcRect/>
          <a:stretch/>
        </p:blipFill>
        <p:spPr>
          <a:xfrm>
            <a:off x="9948938" y="4541887"/>
            <a:ext cx="1196320" cy="99693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f6f1825b7e_0_0"/>
          <p:cNvSpPr txBox="1"/>
          <p:nvPr/>
        </p:nvSpPr>
        <p:spPr>
          <a:xfrm>
            <a:off x="1345500" y="1777250"/>
            <a:ext cx="9197400" cy="4585840"/>
          </a:xfrm>
          <a:prstGeom prst="rect">
            <a:avLst/>
          </a:prstGeom>
          <a:noFill/>
          <a:ln>
            <a:noFill/>
          </a:ln>
        </p:spPr>
        <p:txBody>
          <a:bodyPr spcFirstLastPara="1" wrap="square" lIns="91425" tIns="91425" rIns="91425" bIns="91425" anchor="t" anchorCtr="0">
            <a:spAutoFit/>
          </a:bodyPr>
          <a:lstStyle/>
          <a:p>
            <a:pPr lvl="0" algn="just"/>
            <a:r>
              <a:rPr lang="fr-FR" sz="1800" dirty="0">
                <a:solidFill>
                  <a:schemeClr val="dk1"/>
                </a:solidFill>
                <a:latin typeface="Montserrat"/>
                <a:ea typeface="Montserrat"/>
                <a:cs typeface="Montserrat"/>
                <a:sym typeface="Montserrat"/>
              </a:rPr>
              <a:t>Le projet suivra la méthode AGILE. Cette méthode permet de découper l’étude en </a:t>
            </a:r>
            <a:r>
              <a:rPr lang="fr-FR" sz="1800" dirty="0" smtClean="0">
                <a:solidFill>
                  <a:schemeClr val="dk1"/>
                </a:solidFill>
                <a:latin typeface="Montserrat"/>
                <a:ea typeface="Montserrat"/>
                <a:cs typeface="Montserrat"/>
                <a:sym typeface="Montserrat"/>
              </a:rPr>
              <a:t>plusieurs </a:t>
            </a:r>
            <a:r>
              <a:rPr lang="fr-FR" sz="1800" dirty="0">
                <a:solidFill>
                  <a:schemeClr val="dk1"/>
                </a:solidFill>
                <a:latin typeface="Montserrat"/>
                <a:ea typeface="Montserrat"/>
                <a:cs typeface="Montserrat"/>
                <a:sym typeface="Montserrat"/>
              </a:rPr>
              <a:t>itérations indépendantes, pouvant être enchaînées, superposées, ou fait au rythme voulu par le client. Cette méthode permet ainsi de coller au plus proche du besoin </a:t>
            </a:r>
            <a:r>
              <a:rPr lang="fr-FR" sz="1800" dirty="0">
                <a:solidFill>
                  <a:schemeClr val="dk1"/>
                </a:solidFill>
                <a:latin typeface="Montserrat" panose="00000500000000000000" pitchFamily="2" charset="0"/>
                <a:ea typeface="Montserrat"/>
                <a:cs typeface="Montserrat"/>
                <a:sym typeface="Montserrat"/>
              </a:rPr>
              <a:t>de </a:t>
            </a:r>
            <a:r>
              <a:rPr lang="fr-FR" sz="1800" dirty="0">
                <a:latin typeface="Montserrat" panose="00000500000000000000" pitchFamily="2" charset="0"/>
              </a:rPr>
              <a:t>{{etude.prospect.name}} </a:t>
            </a:r>
            <a:r>
              <a:rPr lang="fr-FR" sz="1800" dirty="0" smtClean="0">
                <a:solidFill>
                  <a:schemeClr val="dk1"/>
                </a:solidFill>
                <a:latin typeface="Montserrat" panose="00000500000000000000" pitchFamily="2" charset="0"/>
                <a:ea typeface="Montserrat"/>
                <a:cs typeface="Montserrat"/>
                <a:sym typeface="Montserrat"/>
              </a:rPr>
              <a:t>en </a:t>
            </a:r>
            <a:r>
              <a:rPr lang="fr-FR" sz="1800" dirty="0">
                <a:solidFill>
                  <a:schemeClr val="dk1"/>
                </a:solidFill>
                <a:latin typeface="Montserrat" panose="00000500000000000000" pitchFamily="2" charset="0"/>
                <a:ea typeface="Montserrat"/>
                <a:cs typeface="Montserrat"/>
                <a:sym typeface="Montserrat"/>
              </a:rPr>
              <a:t>adaptant </a:t>
            </a:r>
            <a:r>
              <a:rPr lang="fr-FR" sz="1800" dirty="0">
                <a:solidFill>
                  <a:schemeClr val="dk1"/>
                </a:solidFill>
                <a:latin typeface="Montserrat"/>
                <a:ea typeface="Montserrat"/>
                <a:cs typeface="Montserrat"/>
                <a:sym typeface="Montserrat"/>
              </a:rPr>
              <a:t>le cahier des charges aux envies du client au fur et à mesure de l’avancement du projet.</a:t>
            </a:r>
            <a:endParaRPr sz="1800" dirty="0">
              <a:solidFill>
                <a:schemeClr val="dk1"/>
              </a:solidFill>
              <a:latin typeface="Montserrat"/>
              <a:ea typeface="Montserrat"/>
              <a:cs typeface="Montserrat"/>
              <a:sym typeface="Montserrat"/>
            </a:endParaRPr>
          </a:p>
          <a:p>
            <a:pPr lvl="0" algn="just">
              <a:spcBef>
                <a:spcPts val="2000"/>
              </a:spcBef>
            </a:pPr>
            <a:r>
              <a:rPr lang="fr-FR" sz="1800" dirty="0">
                <a:solidFill>
                  <a:schemeClr val="dk1"/>
                </a:solidFill>
                <a:latin typeface="Montserrat"/>
                <a:ea typeface="Montserrat"/>
                <a:cs typeface="Montserrat"/>
                <a:sym typeface="Montserrat"/>
              </a:rPr>
              <a:t>On cadrera le projet grâce à une Convention Cadre Agile, qui définira le besoin global, les méthodologies utilisables et les conditions générales sur une durée de 3 ans. Ce sera le premier document contractuel édité entre Ouest INSA </a:t>
            </a:r>
            <a:r>
              <a:rPr lang="fr-FR" sz="1800" dirty="0" smtClean="0">
                <a:solidFill>
                  <a:schemeClr val="dk1"/>
                </a:solidFill>
                <a:latin typeface="Montserrat"/>
                <a:ea typeface="Montserrat"/>
                <a:cs typeface="Montserrat"/>
                <a:sym typeface="Montserrat"/>
              </a:rPr>
              <a:t>et </a:t>
            </a:r>
            <a:r>
              <a:rPr lang="fr-FR" sz="1800" dirty="0">
                <a:latin typeface="Montserrat" panose="00000500000000000000" pitchFamily="2" charset="0"/>
              </a:rPr>
              <a:t>{{etude.prospect.name</a:t>
            </a:r>
            <a:r>
              <a:rPr lang="fr-FR" sz="1800" dirty="0" smtClean="0">
                <a:latin typeface="Montserrat" panose="00000500000000000000" pitchFamily="2" charset="0"/>
              </a:rPr>
              <a:t>}}.</a:t>
            </a:r>
            <a:endParaRPr sz="2500" dirty="0">
              <a:solidFill>
                <a:schemeClr val="dk1"/>
              </a:solidFill>
              <a:highlight>
                <a:srgbClr val="FFFF00"/>
              </a:highlight>
              <a:latin typeface="Montserrat"/>
              <a:ea typeface="Montserrat"/>
              <a:cs typeface="Montserrat"/>
              <a:sym typeface="Montserrat"/>
            </a:endParaRPr>
          </a:p>
          <a:p>
            <a:pPr marL="0" lvl="0" indent="0" algn="just" rtl="0">
              <a:spcBef>
                <a:spcPts val="2000"/>
              </a:spcBef>
              <a:spcAft>
                <a:spcPts val="2000"/>
              </a:spcAft>
              <a:buNone/>
            </a:pPr>
            <a:r>
              <a:rPr lang="fr-FR" sz="1800" dirty="0">
                <a:solidFill>
                  <a:schemeClr val="dk1"/>
                </a:solidFill>
                <a:latin typeface="Montserrat"/>
                <a:ea typeface="Montserrat"/>
                <a:cs typeface="Montserrat"/>
                <a:sym typeface="Montserrat"/>
              </a:rPr>
              <a:t>Des bons de commande seront ensuite signés. Ils définiront les objectifs, le budget, et l’échéancier de chaque sprint. A la fin de chaque sprint, les retours clients permettront donc de fixer les objectifs du sprint suivant.</a:t>
            </a:r>
            <a:endParaRPr sz="2500" b="1" dirty="0">
              <a:solidFill>
                <a:schemeClr val="dk1"/>
              </a:solidFill>
              <a:latin typeface="Montserrat"/>
              <a:ea typeface="Montserrat"/>
              <a:cs typeface="Montserrat"/>
              <a:sym typeface="Montserrat"/>
            </a:endParaRPr>
          </a:p>
        </p:txBody>
      </p:sp>
      <p:sp>
        <p:nvSpPr>
          <p:cNvPr id="150" name="Google Shape;150;gf6f1825b7e_0_0"/>
          <p:cNvSpPr txBox="1">
            <a:spLocks noGrp="1"/>
          </p:cNvSpPr>
          <p:nvPr>
            <p:ph type="title"/>
          </p:nvPr>
        </p:nvSpPr>
        <p:spPr>
          <a:xfrm>
            <a:off x="1829950" y="177025"/>
            <a:ext cx="7365000" cy="927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959"/>
              <a:buFont typeface="Poppins"/>
              <a:buNone/>
            </a:pPr>
            <a:r>
              <a:rPr lang="fr-FR" sz="3959">
                <a:latin typeface="Montserrat"/>
                <a:ea typeface="Montserrat"/>
                <a:cs typeface="Montserrat"/>
                <a:sym typeface="Montserrat"/>
              </a:rPr>
              <a:t>Présentation de </a:t>
            </a:r>
            <a:r>
              <a:rPr lang="fr-FR" sz="3959"/>
              <a:t>la méthodologie agile</a:t>
            </a:r>
            <a:endParaRPr>
              <a:latin typeface="Montserrat"/>
              <a:ea typeface="Montserrat"/>
              <a:cs typeface="Montserrat"/>
              <a:sym typeface="Montserrat"/>
            </a:endParaRPr>
          </a:p>
        </p:txBody>
      </p:sp>
      <p:sp>
        <p:nvSpPr>
          <p:cNvPr id="151" name="Google Shape;151;gf6f1825b7e_0_0"/>
          <p:cNvSpPr/>
          <p:nvPr/>
        </p:nvSpPr>
        <p:spPr>
          <a:xfrm rot="-1685069">
            <a:off x="3338295" y="4332473"/>
            <a:ext cx="5813630" cy="1636835"/>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4000">
                <a:solidFill>
                  <a:srgbClr val="E40134"/>
                </a:solidFill>
              </a:rPr>
              <a:t>A retirer si CE</a:t>
            </a:r>
            <a:endParaRPr sz="4000">
              <a:solidFill>
                <a:srgbClr val="E4013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
          <p:cNvSpPr txBox="1">
            <a:spLocks noGrp="1"/>
          </p:cNvSpPr>
          <p:nvPr>
            <p:ph type="title"/>
          </p:nvPr>
        </p:nvSpPr>
        <p:spPr>
          <a:xfrm>
            <a:off x="1933575" y="197095"/>
            <a:ext cx="7365033" cy="6286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Poppins"/>
              <a:buNone/>
            </a:pPr>
            <a:r>
              <a:rPr lang="fr-FR" sz="3563">
                <a:latin typeface="Montserrat"/>
                <a:ea typeface="Montserrat"/>
                <a:cs typeface="Montserrat"/>
                <a:sym typeface="Montserrat"/>
              </a:rPr>
              <a:t>Contexte et objectifs de l’étude</a:t>
            </a:r>
            <a:endParaRPr sz="3959">
              <a:latin typeface="Montserrat"/>
              <a:ea typeface="Montserrat"/>
              <a:cs typeface="Montserrat"/>
              <a:sym typeface="Montserrat"/>
            </a:endParaRPr>
          </a:p>
        </p:txBody>
      </p:sp>
      <p:sp>
        <p:nvSpPr>
          <p:cNvPr id="157" name="Google Shape;157;p3"/>
          <p:cNvSpPr txBox="1"/>
          <p:nvPr/>
        </p:nvSpPr>
        <p:spPr>
          <a:xfrm>
            <a:off x="1413164" y="1868196"/>
            <a:ext cx="9698100" cy="1477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1" u="none" strike="noStrike" cap="none">
                <a:solidFill>
                  <a:schemeClr val="dk1"/>
                </a:solidFill>
                <a:highlight>
                  <a:srgbClr val="FFFF00"/>
                </a:highlight>
                <a:latin typeface="Montserrat"/>
                <a:ea typeface="Montserrat"/>
                <a:cs typeface="Montserrat"/>
                <a:sym typeface="Montserrat"/>
              </a:rPr>
              <a:t>Présenter l’entreprise, ce qu’elle fait et ce qu’elle souhaite. Décrire de manière clair, précise et concise la prestation attendue (pas de phrases à rallonge avec des milliers de propositions). Si la proposition répond à un appel d’offre kiwi, le préciser</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0" i="1" u="none" strike="noStrike" cap="none">
                <a:solidFill>
                  <a:schemeClr val="dk1"/>
                </a:solidFill>
                <a:highlight>
                  <a:srgbClr val="FFFF00"/>
                </a:highlight>
                <a:latin typeface="Montserrat"/>
                <a:ea typeface="Montserrat"/>
                <a:cs typeface="Montserrat"/>
                <a:sym typeface="Montserrat"/>
              </a:rPr>
              <a:t>Si la proposition est agencée sous forme de convention cadre agile, mettre le nombre de BC à prévoir et leur nom.</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4"/>
          <p:cNvSpPr txBox="1">
            <a:spLocks noGrp="1"/>
          </p:cNvSpPr>
          <p:nvPr>
            <p:ph type="title"/>
          </p:nvPr>
        </p:nvSpPr>
        <p:spPr>
          <a:xfrm>
            <a:off x="2088302" y="405387"/>
            <a:ext cx="7365033" cy="6286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Poppins"/>
              <a:buNone/>
            </a:pPr>
            <a:r>
              <a:rPr lang="fr-FR" sz="3563">
                <a:latin typeface="Montserrat"/>
                <a:ea typeface="Montserrat"/>
                <a:cs typeface="Montserrat"/>
                <a:sym typeface="Montserrat"/>
              </a:rPr>
              <a:t>Proposition</a:t>
            </a:r>
            <a:endParaRPr sz="3959">
              <a:latin typeface="Montserrat"/>
              <a:ea typeface="Montserrat"/>
              <a:cs typeface="Montserrat"/>
              <a:sym typeface="Montserrat"/>
            </a:endParaRPr>
          </a:p>
        </p:txBody>
      </p:sp>
      <p:sp>
        <p:nvSpPr>
          <p:cNvPr id="163" name="Google Shape;163;p4"/>
          <p:cNvSpPr txBox="1"/>
          <p:nvPr/>
        </p:nvSpPr>
        <p:spPr>
          <a:xfrm>
            <a:off x="845127" y="1868196"/>
            <a:ext cx="10210800" cy="30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Montserrat"/>
                <a:ea typeface="Montserrat"/>
                <a:cs typeface="Montserrat"/>
                <a:sym typeface="Montserrat"/>
              </a:rPr>
              <a:t>Phase n°1 : </a:t>
            </a:r>
            <a:r>
              <a:rPr lang="fr-FR" sz="2400" b="1" i="1" u="none" strike="noStrike" cap="none">
                <a:solidFill>
                  <a:schemeClr val="dk1"/>
                </a:solidFill>
                <a:highlight>
                  <a:srgbClr val="FFFF00"/>
                </a:highlight>
                <a:latin typeface="Montserrat"/>
                <a:ea typeface="Montserrat"/>
                <a:cs typeface="Montserrat"/>
                <a:sym typeface="Montserrat"/>
              </a:rPr>
              <a:t>Titre de la phase</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2400"/>
              <a:buFont typeface="Arial"/>
              <a:buNone/>
            </a:pPr>
            <a:endParaRPr sz="2400" b="1" i="1" u="none" strike="noStrike" cap="none">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Montserrat"/>
                <a:ea typeface="Montserrat"/>
                <a:cs typeface="Montserrat"/>
                <a:sym typeface="Montserrat"/>
              </a:rPr>
              <a:t>Description : </a:t>
            </a:r>
            <a:r>
              <a:rPr lang="fr-FR" sz="1800" b="0" i="1" u="none" strike="noStrike" cap="none">
                <a:solidFill>
                  <a:schemeClr val="dk1"/>
                </a:solidFill>
                <a:highlight>
                  <a:srgbClr val="FFFF00"/>
                </a:highlight>
                <a:latin typeface="Montserrat"/>
                <a:ea typeface="Montserrat"/>
                <a:cs typeface="Montserrat"/>
                <a:sym typeface="Montserrat"/>
              </a:rPr>
              <a:t>décrire la phase de manière précise en expliquant tous les détails. Il faut montrer au client que l’on a compris le besoin.</a:t>
            </a:r>
            <a:endParaRPr sz="1800" b="1" i="0" u="none" strike="noStrike" cap="none">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Montserrat"/>
                <a:ea typeface="Montserrat"/>
                <a:cs typeface="Montserrat"/>
                <a:sym typeface="Montserrat"/>
              </a:rPr>
              <a:t>Durée estimée : </a:t>
            </a:r>
            <a:r>
              <a:rPr lang="fr-FR" sz="1800" b="0" i="1" u="none" strike="noStrike" cap="none">
                <a:solidFill>
                  <a:schemeClr val="dk1"/>
                </a:solidFill>
                <a:highlight>
                  <a:srgbClr val="FFFF00"/>
                </a:highlight>
                <a:latin typeface="Montserrat"/>
                <a:ea typeface="Montserrat"/>
                <a:cs typeface="Montserrat"/>
                <a:sym typeface="Montserrat"/>
              </a:rPr>
              <a:t>nb de semaine min ET max estimé</a:t>
            </a:r>
            <a:endParaRPr sz="1800" b="1" i="0" u="none" strike="noStrike" cap="none">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Montserrat"/>
                <a:ea typeface="Montserrat"/>
                <a:cs typeface="Montserrat"/>
                <a:sym typeface="Montserrat"/>
              </a:rPr>
              <a:t>Nombre de JEH estimé : </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highlight>
                <a:srgbClr val="FFFF00"/>
              </a:highlight>
              <a:latin typeface="Montserrat"/>
              <a:ea typeface="Montserrat"/>
              <a:cs typeface="Montserrat"/>
              <a:sym typeface="Montserrat"/>
            </a:endParaRPr>
          </a:p>
        </p:txBody>
      </p:sp>
      <p:sp>
        <p:nvSpPr>
          <p:cNvPr id="164" name="Google Shape;164;p4"/>
          <p:cNvSpPr txBox="1"/>
          <p:nvPr/>
        </p:nvSpPr>
        <p:spPr>
          <a:xfrm>
            <a:off x="845127" y="1219708"/>
            <a:ext cx="100872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1" u="none" strike="noStrike" cap="none">
                <a:solidFill>
                  <a:srgbClr val="000000"/>
                </a:solidFill>
                <a:latin typeface="Montserrat"/>
                <a:ea typeface="Montserrat"/>
                <a:cs typeface="Montserrat"/>
                <a:sym typeface="Montserrat"/>
              </a:rPr>
              <a:t>Si c’est une CCA, faire la démarche des phases pour chaque bon de commande</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2088302" y="405387"/>
            <a:ext cx="7365033" cy="6286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Poppins"/>
              <a:buNone/>
            </a:pPr>
            <a:r>
              <a:rPr lang="fr-FR" sz="3563">
                <a:latin typeface="Montserrat"/>
                <a:ea typeface="Montserrat"/>
                <a:cs typeface="Montserrat"/>
                <a:sym typeface="Montserrat"/>
              </a:rPr>
              <a:t>Proposition</a:t>
            </a:r>
            <a:endParaRPr sz="3959">
              <a:latin typeface="Montserrat"/>
              <a:ea typeface="Montserrat"/>
              <a:cs typeface="Montserrat"/>
              <a:sym typeface="Montserrat"/>
            </a:endParaRPr>
          </a:p>
        </p:txBody>
      </p:sp>
      <p:sp>
        <p:nvSpPr>
          <p:cNvPr id="170" name="Google Shape;170;p23"/>
          <p:cNvSpPr txBox="1"/>
          <p:nvPr/>
        </p:nvSpPr>
        <p:spPr>
          <a:xfrm>
            <a:off x="845127" y="1868196"/>
            <a:ext cx="10210800" cy="30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Montserrat"/>
                <a:ea typeface="Montserrat"/>
                <a:cs typeface="Montserrat"/>
                <a:sym typeface="Montserrat"/>
              </a:rPr>
              <a:t>Phase n°2 : </a:t>
            </a:r>
            <a:r>
              <a:rPr lang="fr-FR" sz="2400" b="1" i="1" u="none" strike="noStrike" cap="none">
                <a:solidFill>
                  <a:schemeClr val="dk1"/>
                </a:solidFill>
                <a:highlight>
                  <a:srgbClr val="FFFF00"/>
                </a:highlight>
                <a:latin typeface="Montserrat"/>
                <a:ea typeface="Montserrat"/>
                <a:cs typeface="Montserrat"/>
                <a:sym typeface="Montserrat"/>
              </a:rPr>
              <a:t>Titre de la phase</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2400"/>
              <a:buFont typeface="Arial"/>
              <a:buNone/>
            </a:pPr>
            <a:endParaRPr sz="2400" b="1" i="1" u="none" strike="noStrike" cap="none">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Montserrat"/>
                <a:ea typeface="Montserrat"/>
                <a:cs typeface="Montserrat"/>
                <a:sym typeface="Montserrat"/>
              </a:rPr>
              <a:t>Description : </a:t>
            </a:r>
            <a:r>
              <a:rPr lang="fr-FR" sz="1800" b="0" i="1" u="none" strike="noStrike" cap="none">
                <a:solidFill>
                  <a:schemeClr val="dk1"/>
                </a:solidFill>
                <a:highlight>
                  <a:srgbClr val="FFFF00"/>
                </a:highlight>
                <a:latin typeface="Montserrat"/>
                <a:ea typeface="Montserrat"/>
                <a:cs typeface="Montserrat"/>
                <a:sym typeface="Montserrat"/>
              </a:rPr>
              <a:t>décrire la phase de manière précise en expliquant tous les détails. Il faut montrer au client que l’on a compris le besoin.</a:t>
            </a:r>
            <a:endParaRPr sz="1800" b="1" i="0" u="none" strike="noStrike" cap="none">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Montserrat"/>
                <a:ea typeface="Montserrat"/>
                <a:cs typeface="Montserrat"/>
                <a:sym typeface="Montserrat"/>
              </a:rPr>
              <a:t>Durée estimée : </a:t>
            </a:r>
            <a:r>
              <a:rPr lang="fr-FR" sz="1800" b="0" i="1" u="none" strike="noStrike" cap="none">
                <a:solidFill>
                  <a:schemeClr val="dk1"/>
                </a:solidFill>
                <a:highlight>
                  <a:srgbClr val="FFFF00"/>
                </a:highlight>
                <a:latin typeface="Montserrat"/>
                <a:ea typeface="Montserrat"/>
                <a:cs typeface="Montserrat"/>
                <a:sym typeface="Montserrat"/>
              </a:rPr>
              <a:t>nb de semaine min ET max estimé</a:t>
            </a:r>
            <a:endParaRPr sz="1800" b="1" i="0" u="none" strike="noStrike" cap="none">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Montserrat"/>
                <a:ea typeface="Montserrat"/>
                <a:cs typeface="Montserrat"/>
                <a:sym typeface="Montserrat"/>
              </a:rPr>
              <a:t>Nombre de JEH estimé : </a:t>
            </a:r>
            <a:endParaRPr sz="14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highlight>
                <a:srgbClr val="FFFF00"/>
              </a:highlight>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6"/>
          <p:cNvSpPr txBox="1">
            <a:spLocks noGrp="1"/>
          </p:cNvSpPr>
          <p:nvPr>
            <p:ph type="title"/>
          </p:nvPr>
        </p:nvSpPr>
        <p:spPr>
          <a:xfrm>
            <a:off x="2088302" y="348622"/>
            <a:ext cx="7365033" cy="6286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Poppins"/>
              <a:buNone/>
            </a:pPr>
            <a:r>
              <a:rPr lang="fr-FR" sz="3563">
                <a:latin typeface="Montserrat"/>
                <a:ea typeface="Montserrat"/>
                <a:cs typeface="Montserrat"/>
                <a:sym typeface="Montserrat"/>
              </a:rPr>
              <a:t>Estimation Financière </a:t>
            </a:r>
            <a:endParaRPr sz="3959">
              <a:latin typeface="Montserrat"/>
              <a:ea typeface="Montserrat"/>
              <a:cs typeface="Montserrat"/>
              <a:sym typeface="Montserrat"/>
            </a:endParaRPr>
          </a:p>
        </p:txBody>
      </p:sp>
      <p:graphicFrame>
        <p:nvGraphicFramePr>
          <p:cNvPr id="176" name="Google Shape;176;p6"/>
          <p:cNvGraphicFramePr/>
          <p:nvPr/>
        </p:nvGraphicFramePr>
        <p:xfrm>
          <a:off x="615604" y="1223699"/>
          <a:ext cx="9087775" cy="5132660"/>
        </p:xfrm>
        <a:graphic>
          <a:graphicData uri="http://schemas.openxmlformats.org/drawingml/2006/table">
            <a:tbl>
              <a:tblPr bandRow="1">
                <a:noFill/>
                <a:tableStyleId>{2110E0F9-F30F-4EC8-BE2C-2E1D048924BB}</a:tableStyleId>
              </a:tblPr>
              <a:tblGrid>
                <a:gridCol w="1577025"/>
                <a:gridCol w="2312525"/>
                <a:gridCol w="2365875"/>
                <a:gridCol w="2832350"/>
              </a:tblGrid>
              <a:tr h="5248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r>
                      <a:br>
                        <a:rPr lang="fr-FR" sz="1300" u="none" strike="noStrike" cap="none">
                          <a:latin typeface="Montserrat"/>
                          <a:ea typeface="Montserrat"/>
                          <a:cs typeface="Montserrat"/>
                          <a:sym typeface="Montserrat"/>
                        </a:rPr>
                      </a:br>
                      <a:endParaRPr sz="1200" u="none" strike="noStrike" cap="none">
                        <a:latin typeface="Montserrat"/>
                        <a:ea typeface="Montserrat"/>
                        <a:cs typeface="Montserrat"/>
                        <a:sym typeface="Montserrat"/>
                      </a:endParaRPr>
                    </a:p>
                  </a:txBody>
                  <a:tcPr marL="7175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57070"/>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JEH</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57070"/>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Prix H.T. (€) / JEH</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57070"/>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H.T.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57070"/>
                    </a:solidFill>
                  </a:tcPr>
                </a:tc>
              </a:tr>
              <a:tr h="272900">
                <a:tc gridSpan="4">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Phase 1 : </a:t>
                      </a:r>
                      <a:r>
                        <a:rPr lang="fr-FR" sz="1300" u="none" strike="noStrike" cap="none">
                          <a:highlight>
                            <a:srgbClr val="FFFF00"/>
                          </a:highlight>
                          <a:latin typeface="Montserrat"/>
                          <a:ea typeface="Montserrat"/>
                          <a:cs typeface="Montserrat"/>
                          <a:sym typeface="Montserrat"/>
                        </a:rPr>
                        <a:t>Titre de la phase</a:t>
                      </a:r>
                      <a:endParaRPr sz="1200" u="none" strike="noStrike" cap="none">
                        <a:latin typeface="Montserrat"/>
                        <a:ea typeface="Montserrat"/>
                        <a:cs typeface="Montserrat"/>
                        <a:sym typeface="Montserrat"/>
                      </a:endParaRPr>
                    </a:p>
                  </a:txBody>
                  <a:tcPr marL="7175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hMerge="1">
                  <a:txBody>
                    <a:bodyPr/>
                    <a:lstStyle/>
                    <a:p>
                      <a:endParaRPr lang="fr-FR"/>
                    </a:p>
                  </a:txBody>
                  <a:tcPr/>
                </a:tc>
                <a:tc hMerge="1">
                  <a:txBody>
                    <a:bodyPr/>
                    <a:lstStyle/>
                    <a:p>
                      <a:endParaRPr lang="fr-FR"/>
                    </a:p>
                  </a:txBody>
                  <a:tcPr/>
                </a:tc>
                <a:tc hMerge="1">
                  <a:txBody>
                    <a:bodyPr/>
                    <a:lstStyle/>
                    <a:p>
                      <a:endParaRPr lang="fr-FR"/>
                    </a:p>
                  </a:txBody>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Sous-phase si besoin</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Sous-phase si besoin</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Sous-phase si besoin</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Sous-phase si besoin</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phase 1</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gridSpan="4">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Phase 2 : </a:t>
                      </a:r>
                      <a:r>
                        <a:rPr lang="fr-FR" sz="1300" u="none" strike="noStrike" cap="none">
                          <a:highlight>
                            <a:srgbClr val="FFFF00"/>
                          </a:highlight>
                          <a:latin typeface="Montserrat"/>
                          <a:ea typeface="Montserrat"/>
                          <a:cs typeface="Montserrat"/>
                          <a:sym typeface="Montserrat"/>
                        </a:rPr>
                        <a:t>Titre de la phase</a:t>
                      </a:r>
                      <a:endParaRPr sz="1200" u="none" strike="noStrike" cap="none">
                        <a:latin typeface="Montserrat"/>
                        <a:ea typeface="Montserrat"/>
                        <a:cs typeface="Montserrat"/>
                        <a:sym typeface="Montserrat"/>
                      </a:endParaRPr>
                    </a:p>
                  </a:txBody>
                  <a:tcPr marL="7175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hMerge="1">
                  <a:txBody>
                    <a:bodyPr/>
                    <a:lstStyle/>
                    <a:p>
                      <a:endParaRPr lang="fr-FR"/>
                    </a:p>
                  </a:txBody>
                  <a:tcPr/>
                </a:tc>
                <a:tc hMerge="1">
                  <a:txBody>
                    <a:bodyPr/>
                    <a:lstStyle/>
                    <a:p>
                      <a:endParaRPr lang="fr-FR"/>
                    </a:p>
                  </a:txBody>
                  <a:tcPr/>
                </a:tc>
                <a:tc hMerge="1">
                  <a:txBody>
                    <a:bodyPr/>
                    <a:lstStyle/>
                    <a:p>
                      <a:endParaRPr lang="fr-FR"/>
                    </a:p>
                  </a:txBody>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r>
                        <a:rPr lang="fr-FR" sz="1300" u="none" strike="noStrike" cap="none">
                          <a:highlight>
                            <a:srgbClr val="FFFF00"/>
                          </a:highlight>
                          <a:latin typeface="Montserrat"/>
                          <a:ea typeface="Montserrat"/>
                          <a:cs typeface="Montserrat"/>
                          <a:sym typeface="Montserrat"/>
                        </a:rPr>
                        <a:t>titre</a:t>
                      </a: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phase 2</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gridSpan="4">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Phase 3 : </a:t>
                      </a:r>
                      <a:r>
                        <a:rPr lang="fr-FR" sz="1300" u="none" strike="noStrike" cap="none">
                          <a:highlight>
                            <a:srgbClr val="FFFF00"/>
                          </a:highlight>
                          <a:latin typeface="Montserrat"/>
                          <a:ea typeface="Montserrat"/>
                          <a:cs typeface="Montserrat"/>
                          <a:sym typeface="Montserrat"/>
                        </a:rPr>
                        <a:t>Titre de la phase</a:t>
                      </a:r>
                      <a:endParaRPr sz="1200" u="none" strike="noStrike" cap="none">
                        <a:latin typeface="Montserrat"/>
                        <a:ea typeface="Montserrat"/>
                        <a:cs typeface="Montserrat"/>
                        <a:sym typeface="Montserrat"/>
                      </a:endParaRPr>
                    </a:p>
                  </a:txBody>
                  <a:tcPr marL="7175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hMerge="1">
                  <a:txBody>
                    <a:bodyPr/>
                    <a:lstStyle/>
                    <a:p>
                      <a:endParaRPr lang="fr-FR"/>
                    </a:p>
                  </a:txBody>
                  <a:tcPr/>
                </a:tc>
                <a:tc hMerge="1">
                  <a:txBody>
                    <a:bodyPr/>
                    <a:lstStyle/>
                    <a:p>
                      <a:endParaRPr lang="fr-FR"/>
                    </a:p>
                  </a:txBody>
                  <a:tcPr/>
                </a:tc>
                <a:tc hMerge="1">
                  <a:txBody>
                    <a:bodyPr/>
                    <a:lstStyle/>
                    <a:p>
                      <a:endParaRPr lang="fr-FR"/>
                    </a:p>
                  </a:txBody>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r>
                        <a:rPr lang="fr-FR" sz="1300" u="none" strike="noStrike" cap="none">
                          <a:highlight>
                            <a:srgbClr val="FFFF00"/>
                          </a:highlight>
                          <a:latin typeface="Montserrat"/>
                          <a:ea typeface="Montserrat"/>
                          <a:cs typeface="Montserrat"/>
                          <a:sym typeface="Montserrat"/>
                        </a:rPr>
                        <a:t>titre</a:t>
                      </a:r>
                      <a:endParaRPr sz="1200" u="none" strike="noStrike" cap="none">
                        <a:highlight>
                          <a:srgbClr val="FFFF00"/>
                        </a:highlight>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phase 3</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72900">
                <a:tc gridSpan="4">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Phase 4 : </a:t>
                      </a:r>
                      <a:r>
                        <a:rPr lang="fr-FR" sz="1300" u="none" strike="noStrike" cap="none">
                          <a:highlight>
                            <a:srgbClr val="FFFF00"/>
                          </a:highlight>
                          <a:latin typeface="Montserrat"/>
                          <a:ea typeface="Montserrat"/>
                          <a:cs typeface="Montserrat"/>
                          <a:sym typeface="Montserrat"/>
                        </a:rPr>
                        <a:t>Titre de la phase</a:t>
                      </a:r>
                      <a:endParaRPr sz="1200" u="none" strike="noStrike" cap="none">
                        <a:latin typeface="Montserrat"/>
                        <a:ea typeface="Montserrat"/>
                        <a:cs typeface="Montserrat"/>
                        <a:sym typeface="Montserrat"/>
                      </a:endParaRPr>
                    </a:p>
                  </a:txBody>
                  <a:tcPr marL="71750"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hMerge="1">
                  <a:txBody>
                    <a:bodyPr/>
                    <a:lstStyle/>
                    <a:p>
                      <a:endParaRPr lang="fr-FR"/>
                    </a:p>
                  </a:txBody>
                  <a:tcPr/>
                </a:tc>
                <a:tc hMerge="1">
                  <a:txBody>
                    <a:bodyPr/>
                    <a:lstStyle/>
                    <a:p>
                      <a:endParaRPr lang="fr-FR"/>
                    </a:p>
                  </a:txBody>
                  <a:tcPr/>
                </a:tc>
                <a:tc hMerge="1">
                  <a:txBody>
                    <a:bodyPr/>
                    <a:lstStyle/>
                    <a:p>
                      <a:endParaRPr lang="fr-FR"/>
                    </a:p>
                  </a:txBody>
                  <a:tcPr/>
                </a:tc>
              </a:tr>
              <a:tr h="272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r>
                        <a:rPr lang="fr-FR" sz="1300" u="none" strike="noStrike" cap="none">
                          <a:highlight>
                            <a:srgbClr val="FFFF00"/>
                          </a:highlight>
                          <a:latin typeface="Montserrat"/>
                          <a:ea typeface="Montserrat"/>
                          <a:cs typeface="Montserrat"/>
                          <a:sym typeface="Montserrat"/>
                        </a:rPr>
                        <a:t>titre</a:t>
                      </a: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400,00</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r h="29390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phase 4</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71750"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088302" y="405387"/>
            <a:ext cx="7365033" cy="6286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959"/>
              <a:buFont typeface="Poppins"/>
              <a:buNone/>
            </a:pPr>
            <a:r>
              <a:rPr lang="fr-FR" sz="3563">
                <a:latin typeface="Montserrat"/>
                <a:ea typeface="Montserrat"/>
                <a:cs typeface="Montserrat"/>
                <a:sym typeface="Montserrat"/>
              </a:rPr>
              <a:t>Estimation Financière </a:t>
            </a:r>
            <a:endParaRPr sz="3959">
              <a:latin typeface="Montserrat"/>
              <a:ea typeface="Montserrat"/>
              <a:cs typeface="Montserrat"/>
              <a:sym typeface="Montserrat"/>
            </a:endParaRPr>
          </a:p>
        </p:txBody>
      </p:sp>
      <p:graphicFrame>
        <p:nvGraphicFramePr>
          <p:cNvPr id="182" name="Google Shape;182;p7"/>
          <p:cNvGraphicFramePr/>
          <p:nvPr/>
        </p:nvGraphicFramePr>
        <p:xfrm>
          <a:off x="1363981" y="1447800"/>
          <a:ext cx="7581875" cy="3542000"/>
        </p:xfrm>
        <a:graphic>
          <a:graphicData uri="http://schemas.openxmlformats.org/drawingml/2006/table">
            <a:tbl>
              <a:tblPr bandRow="1">
                <a:noFill/>
                <a:tableStyleId>{2110E0F9-F30F-4EC8-BE2C-2E1D048924BB}</a:tableStyleId>
              </a:tblPr>
              <a:tblGrid>
                <a:gridCol w="1705375"/>
                <a:gridCol w="2093075"/>
                <a:gridCol w="3783425"/>
              </a:tblGrid>
              <a:tr h="885500">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H.T. hors frais</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Nb JEH</a:t>
                      </a:r>
                      <a:r>
                        <a:rPr lang="fr-FR" sz="1300" u="none" strike="noStrike" cap="none">
                          <a:latin typeface="Montserrat"/>
                          <a:ea typeface="Montserrat"/>
                          <a:cs typeface="Montserrat"/>
                          <a:sym typeface="Montserrat"/>
                        </a:rPr>
                        <a:t> JEH(s)</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Prix</a:t>
                      </a:r>
                      <a:r>
                        <a:rPr lang="fr-FR" sz="1300" u="none" strike="noStrike" cap="none">
                          <a:latin typeface="Montserrat"/>
                          <a:ea typeface="Montserrat"/>
                          <a:cs typeface="Montserrat"/>
                          <a:sym typeface="Montserrat"/>
                        </a:rPr>
                        <a:t> € HT</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r>
              <a:tr h="44275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Frais</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Voir les frais de dossier</a:t>
                      </a:r>
                      <a:r>
                        <a:rPr lang="fr-FR" sz="1300" u="none" strike="noStrike" cap="none">
                          <a:latin typeface="Montserrat"/>
                          <a:ea typeface="Montserrat"/>
                          <a:cs typeface="Montserrat"/>
                          <a:sym typeface="Montserrat"/>
                        </a:rPr>
                        <a:t>€ HT</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fr-FR"/>
                    </a:p>
                  </a:txBody>
                  <a:tcPr/>
                </a:tc>
              </a:tr>
              <a:tr h="442750">
                <a:tc gridSpan="3">
                  <a:txBody>
                    <a:bodyPr/>
                    <a:lstStyle/>
                    <a:p>
                      <a:pPr marL="0" marR="0" lvl="0" indent="0" algn="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Frais de dossier écrit en lettre </a:t>
                      </a:r>
                      <a:r>
                        <a:rPr lang="fr-FR" sz="1300" u="none" strike="noStrike" cap="none">
                          <a:latin typeface="Montserrat"/>
                          <a:ea typeface="Montserrat"/>
                          <a:cs typeface="Montserrat"/>
                          <a:sym typeface="Montserrat"/>
                        </a:rPr>
                        <a:t>HT</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fr-FR"/>
                    </a:p>
                  </a:txBody>
                  <a:tcPr/>
                </a:tc>
                <a:tc hMerge="1">
                  <a:txBody>
                    <a:bodyPr/>
                    <a:lstStyle/>
                    <a:p>
                      <a:endParaRPr lang="fr-FR"/>
                    </a:p>
                  </a:txBody>
                  <a:tcPr/>
                </a:tc>
              </a:tr>
              <a:tr h="44275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H.T.</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gridSpan="2">
                  <a:txBody>
                    <a:bodyPr/>
                    <a:lstStyle/>
                    <a:p>
                      <a:pPr marL="0" marR="0" lvl="0" indent="0" algn="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Total en chiffre</a:t>
                      </a:r>
                      <a:r>
                        <a:rPr lang="fr-FR" sz="1300" u="none" strike="noStrike" cap="none">
                          <a:latin typeface="Montserrat"/>
                          <a:ea typeface="Montserrat"/>
                          <a:cs typeface="Montserrat"/>
                          <a:sym typeface="Montserrat"/>
                        </a:rPr>
                        <a:t> € HT</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hMerge="1">
                  <a:txBody>
                    <a:bodyPr/>
                    <a:lstStyle/>
                    <a:p>
                      <a:endParaRPr lang="fr-FR"/>
                    </a:p>
                  </a:txBody>
                  <a:tcPr/>
                </a:tc>
              </a:tr>
              <a:tr h="442750">
                <a:tc gridSpan="3">
                  <a:txBody>
                    <a:bodyPr/>
                    <a:lstStyle/>
                    <a:p>
                      <a:pPr marL="0" marR="0" lvl="0" indent="0" algn="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Total en lettre</a:t>
                      </a:r>
                      <a:r>
                        <a:rPr lang="fr-FR" sz="1300" u="none" strike="noStrike" cap="none">
                          <a:latin typeface="Montserrat"/>
                          <a:ea typeface="Montserrat"/>
                          <a:cs typeface="Montserrat"/>
                          <a:sym typeface="Montserrat"/>
                        </a:rPr>
                        <a:t> HT</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EABAB"/>
                    </a:solidFill>
                  </a:tcPr>
                </a:tc>
                <a:tc hMerge="1">
                  <a:txBody>
                    <a:bodyPr/>
                    <a:lstStyle/>
                    <a:p>
                      <a:endParaRPr lang="fr-FR"/>
                    </a:p>
                  </a:txBody>
                  <a:tcPr/>
                </a:tc>
                <a:tc hMerge="1">
                  <a:txBody>
                    <a:bodyPr/>
                    <a:lstStyle/>
                    <a:p>
                      <a:endParaRPr lang="fr-FR"/>
                    </a:p>
                  </a:txBody>
                  <a:tcPr/>
                </a:tc>
              </a:tr>
              <a:tr h="44275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TVA (20 %)</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Total HT*0.2</a:t>
                      </a:r>
                      <a:r>
                        <a:rPr lang="fr-FR" sz="1300" u="none" strike="noStrike" cap="none">
                          <a:latin typeface="Montserrat"/>
                          <a:ea typeface="Montserrat"/>
                          <a:cs typeface="Montserrat"/>
                          <a:sym typeface="Montserrat"/>
                        </a:rPr>
                        <a:t> €</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fr-FR"/>
                    </a:p>
                  </a:txBody>
                  <a:tcPr/>
                </a:tc>
              </a:tr>
              <a:tr h="442750">
                <a:tc>
                  <a:txBody>
                    <a:bodyPr/>
                    <a:lstStyle/>
                    <a:p>
                      <a:pPr marL="0" marR="0" lvl="0" indent="0" algn="l" rtl="0">
                        <a:lnSpc>
                          <a:spcPct val="100000"/>
                        </a:lnSpc>
                        <a:spcBef>
                          <a:spcPts val="0"/>
                        </a:spcBef>
                        <a:spcAft>
                          <a:spcPts val="0"/>
                        </a:spcAft>
                        <a:buClr>
                          <a:srgbClr val="000000"/>
                        </a:buClr>
                        <a:buSzPts val="1300"/>
                        <a:buFont typeface="Arial"/>
                        <a:buNone/>
                      </a:pPr>
                      <a:r>
                        <a:rPr lang="fr-FR" sz="1300" u="none" strike="noStrike" cap="none">
                          <a:latin typeface="Montserrat"/>
                          <a:ea typeface="Montserrat"/>
                          <a:cs typeface="Montserrat"/>
                          <a:sym typeface="Montserrat"/>
                        </a:rPr>
                        <a:t>Total T.T.C</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57070"/>
                    </a:solidFill>
                  </a:tcPr>
                </a:tc>
                <a:tc gridSpan="2">
                  <a:txBody>
                    <a:bodyPr/>
                    <a:lstStyle/>
                    <a:p>
                      <a:pPr marL="0" marR="0" lvl="0" indent="0" algn="r" rtl="0">
                        <a:lnSpc>
                          <a:spcPct val="100000"/>
                        </a:lnSpc>
                        <a:spcBef>
                          <a:spcPts val="0"/>
                        </a:spcBef>
                        <a:spcAft>
                          <a:spcPts val="0"/>
                        </a:spcAft>
                        <a:buClr>
                          <a:srgbClr val="000000"/>
                        </a:buClr>
                        <a:buSzPts val="1300"/>
                        <a:buFont typeface="Arial"/>
                        <a:buNone/>
                      </a:pPr>
                      <a:r>
                        <a:rPr lang="fr-FR" sz="1300" u="none" strike="noStrike" cap="none">
                          <a:highlight>
                            <a:srgbClr val="FFFF00"/>
                          </a:highlight>
                          <a:latin typeface="Montserrat"/>
                          <a:ea typeface="Montserrat"/>
                          <a:cs typeface="Montserrat"/>
                          <a:sym typeface="Montserrat"/>
                        </a:rPr>
                        <a:t>Total HT+TVA</a:t>
                      </a:r>
                      <a:r>
                        <a:rPr lang="fr-FR" sz="1300" u="none" strike="noStrike" cap="none">
                          <a:latin typeface="Montserrat"/>
                          <a:ea typeface="Montserrat"/>
                          <a:cs typeface="Montserrat"/>
                          <a:sym typeface="Montserrat"/>
                        </a:rPr>
                        <a:t> € TTC</a:t>
                      </a:r>
                      <a:endParaRPr sz="1200" u="none" strike="noStrike" cap="none">
                        <a:latin typeface="Montserrat"/>
                        <a:ea typeface="Montserrat"/>
                        <a:cs typeface="Montserrat"/>
                        <a:sym typeface="Montserrat"/>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57070"/>
                    </a:solidFill>
                  </a:tcPr>
                </a:tc>
                <a:tc hMerge="1">
                  <a:txBody>
                    <a:bodyPr/>
                    <a:lstStyle/>
                    <a:p>
                      <a:endParaRPr lang="fr-FR"/>
                    </a:p>
                  </a:txBody>
                  <a:tcPr/>
                </a:tc>
              </a:tr>
            </a:tbl>
          </a:graphicData>
        </a:graphic>
      </p:graphicFrame>
      <p:sp>
        <p:nvSpPr>
          <p:cNvPr id="183" name="Google Shape;183;p7"/>
          <p:cNvSpPr txBox="1"/>
          <p:nvPr/>
        </p:nvSpPr>
        <p:spPr>
          <a:xfrm>
            <a:off x="1225685" y="4955272"/>
            <a:ext cx="100872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000"/>
                </a:solidFill>
                <a:latin typeface="Montserrat"/>
                <a:ea typeface="Montserrat"/>
                <a:cs typeface="Montserrat"/>
                <a:sym typeface="Montserrat"/>
              </a:rPr>
              <a:t>A titre indicatif et au taux actuel de la TVA</a:t>
            </a:r>
            <a:endParaRPr sz="1400" b="0" i="0" u="none" strike="noStrike" cap="none">
              <a:solidFill>
                <a:srgbClr val="000000"/>
              </a:solidFill>
              <a:latin typeface="Montserrat"/>
              <a:ea typeface="Montserrat"/>
              <a:cs typeface="Montserrat"/>
              <a:sym typeface="Montserrat"/>
            </a:endParaRPr>
          </a:p>
        </p:txBody>
      </p:sp>
      <p:sp>
        <p:nvSpPr>
          <p:cNvPr id="184" name="Google Shape;184;p7"/>
          <p:cNvSpPr txBox="1"/>
          <p:nvPr/>
        </p:nvSpPr>
        <p:spPr>
          <a:xfrm>
            <a:off x="1193735" y="5410200"/>
            <a:ext cx="96981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1" u="none" strike="noStrike" cap="none">
                <a:solidFill>
                  <a:schemeClr val="dk1"/>
                </a:solidFill>
                <a:highlight>
                  <a:srgbClr val="FFFF00"/>
                </a:highlight>
                <a:latin typeface="Montserrat"/>
                <a:ea typeface="Montserrat"/>
                <a:cs typeface="Montserrat"/>
                <a:sym typeface="Montserrat"/>
              </a:rPr>
              <a:t>Pour une CCA, mettre ce tableau pour chaque BC et faire un récap à la fin du prix de tous les BC</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8"/>
          <p:cNvSpPr txBox="1"/>
          <p:nvPr/>
        </p:nvSpPr>
        <p:spPr>
          <a:xfrm>
            <a:off x="254000" y="3822869"/>
            <a:ext cx="451662" cy="27906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chemeClr val="accent2"/>
                </a:solidFill>
                <a:latin typeface="Calibri"/>
                <a:ea typeface="Calibri"/>
                <a:cs typeface="Calibri"/>
                <a:sym typeface="Calibri"/>
              </a:rPr>
              <a:t>2020</a:t>
            </a:r>
            <a:endParaRPr sz="1400" b="0" i="0" u="none" strike="noStrike" cap="none">
              <a:solidFill>
                <a:srgbClr val="000000"/>
              </a:solidFill>
              <a:latin typeface="Arial"/>
              <a:ea typeface="Arial"/>
              <a:cs typeface="Arial"/>
              <a:sym typeface="Arial"/>
            </a:endParaRPr>
          </a:p>
        </p:txBody>
      </p:sp>
      <p:sp>
        <p:nvSpPr>
          <p:cNvPr id="190" name="Google Shape;190;p8"/>
          <p:cNvSpPr txBox="1"/>
          <p:nvPr/>
        </p:nvSpPr>
        <p:spPr>
          <a:xfrm>
            <a:off x="11474534" y="3822869"/>
            <a:ext cx="451662" cy="27906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chemeClr val="accent2"/>
                </a:solidFill>
                <a:latin typeface="Calibri"/>
                <a:ea typeface="Calibri"/>
                <a:cs typeface="Calibri"/>
                <a:sym typeface="Calibri"/>
              </a:rPr>
              <a:t>2020</a:t>
            </a:r>
            <a:endParaRPr sz="1400" b="0" i="0" u="none" strike="noStrike" cap="none">
              <a:solidFill>
                <a:srgbClr val="000000"/>
              </a:solidFill>
              <a:latin typeface="Arial"/>
              <a:ea typeface="Arial"/>
              <a:cs typeface="Arial"/>
              <a:sym typeface="Arial"/>
            </a:endParaRPr>
          </a:p>
        </p:txBody>
      </p:sp>
      <p:cxnSp>
        <p:nvCxnSpPr>
          <p:cNvPr id="191" name="Google Shape;191;p8"/>
          <p:cNvCxnSpPr/>
          <p:nvPr/>
        </p:nvCxnSpPr>
        <p:spPr>
          <a:xfrm>
            <a:off x="876215" y="2667000"/>
            <a:ext cx="496667" cy="0"/>
          </a:xfrm>
          <a:prstGeom prst="straightConnector1">
            <a:avLst/>
          </a:prstGeom>
          <a:noFill/>
          <a:ln w="9525" cap="flat" cmpd="sng">
            <a:solidFill>
              <a:srgbClr val="CCCCCC"/>
            </a:solidFill>
            <a:prstDash val="solid"/>
            <a:miter lim="800000"/>
            <a:headEnd type="none" w="sm" len="sm"/>
            <a:tailEnd type="none" w="sm" len="sm"/>
          </a:ln>
        </p:spPr>
      </p:cxnSp>
      <p:cxnSp>
        <p:nvCxnSpPr>
          <p:cNvPr id="192" name="Google Shape;192;p8"/>
          <p:cNvCxnSpPr/>
          <p:nvPr/>
        </p:nvCxnSpPr>
        <p:spPr>
          <a:xfrm rot="10800000">
            <a:off x="1292183" y="2933700"/>
            <a:ext cx="80700" cy="0"/>
          </a:xfrm>
          <a:prstGeom prst="straightConnector1">
            <a:avLst/>
          </a:prstGeom>
          <a:noFill/>
          <a:ln w="9525" cap="flat" cmpd="sng">
            <a:solidFill>
              <a:srgbClr val="CCCCCC"/>
            </a:solidFill>
            <a:prstDash val="solid"/>
            <a:miter lim="800000"/>
            <a:headEnd type="none" w="sm" len="sm"/>
            <a:tailEnd type="none" w="sm" len="sm"/>
          </a:ln>
        </p:spPr>
      </p:cxnSp>
      <p:cxnSp>
        <p:nvCxnSpPr>
          <p:cNvPr id="193" name="Google Shape;193;p8"/>
          <p:cNvCxnSpPr/>
          <p:nvPr/>
        </p:nvCxnSpPr>
        <p:spPr>
          <a:xfrm rot="10800000">
            <a:off x="1298194" y="3200400"/>
            <a:ext cx="2617907" cy="0"/>
          </a:xfrm>
          <a:prstGeom prst="straightConnector1">
            <a:avLst/>
          </a:prstGeom>
          <a:noFill/>
          <a:ln w="9525" cap="flat" cmpd="sng">
            <a:solidFill>
              <a:srgbClr val="CCCCCC"/>
            </a:solidFill>
            <a:prstDash val="solid"/>
            <a:miter lim="800000"/>
            <a:headEnd type="none" w="sm" len="sm"/>
            <a:tailEnd type="none" w="sm" len="sm"/>
          </a:ln>
        </p:spPr>
      </p:cxnSp>
      <p:cxnSp>
        <p:nvCxnSpPr>
          <p:cNvPr id="194" name="Google Shape;194;p8"/>
          <p:cNvCxnSpPr/>
          <p:nvPr/>
        </p:nvCxnSpPr>
        <p:spPr>
          <a:xfrm>
            <a:off x="876215" y="3467100"/>
            <a:ext cx="5583104" cy="0"/>
          </a:xfrm>
          <a:prstGeom prst="straightConnector1">
            <a:avLst/>
          </a:prstGeom>
          <a:noFill/>
          <a:ln w="9525" cap="flat" cmpd="sng">
            <a:solidFill>
              <a:srgbClr val="CCCCCC"/>
            </a:solidFill>
            <a:prstDash val="solid"/>
            <a:miter lim="800000"/>
            <a:headEnd type="none" w="sm" len="sm"/>
            <a:tailEnd type="none" w="sm" len="sm"/>
          </a:ln>
        </p:spPr>
      </p:cxnSp>
      <p:sp>
        <p:nvSpPr>
          <p:cNvPr id="195" name="Google Shape;195;p8"/>
          <p:cNvSpPr/>
          <p:nvPr/>
        </p:nvSpPr>
        <p:spPr>
          <a:xfrm>
            <a:off x="844465" y="3771900"/>
            <a:ext cx="10515600" cy="381000"/>
          </a:xfrm>
          <a:prstGeom prst="snip2DiagRect">
            <a:avLst>
              <a:gd name="adj1" fmla="val 100000"/>
              <a:gd name="adj2" fmla="val 16667"/>
            </a:avLst>
          </a:prstGeom>
          <a:gradFill>
            <a:gsLst>
              <a:gs pos="0">
                <a:srgbClr val="44546A"/>
              </a:gs>
              <a:gs pos="100000">
                <a:srgbClr val="52667F"/>
              </a:gs>
            </a:gsLst>
            <a:lin ang="5400000" scaled="0"/>
          </a:gradFill>
          <a:ln>
            <a:noFill/>
          </a:ln>
          <a:effectLst>
            <a:reflection stA="50000" endA="300" endPos="55500" dist="50800" dir="5400000"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6" name="Google Shape;196;p8"/>
          <p:cNvSpPr txBox="1"/>
          <p:nvPr/>
        </p:nvSpPr>
        <p:spPr>
          <a:xfrm>
            <a:off x="1073065" y="3869372"/>
            <a:ext cx="46990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Week 1</a:t>
            </a:r>
            <a:endParaRPr sz="1400" b="0" i="0" u="none" strike="noStrike" cap="none">
              <a:solidFill>
                <a:srgbClr val="000000"/>
              </a:solidFill>
              <a:latin typeface="Arial"/>
              <a:ea typeface="Arial"/>
              <a:cs typeface="Arial"/>
              <a:sym typeface="Arial"/>
            </a:endParaRPr>
          </a:p>
        </p:txBody>
      </p:sp>
      <p:sp>
        <p:nvSpPr>
          <p:cNvPr id="197" name="Google Shape;197;p8"/>
          <p:cNvSpPr txBox="1"/>
          <p:nvPr/>
        </p:nvSpPr>
        <p:spPr>
          <a:xfrm>
            <a:off x="3616284"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198" name="Google Shape;198;p8"/>
          <p:cNvSpPr txBox="1"/>
          <p:nvPr/>
        </p:nvSpPr>
        <p:spPr>
          <a:xfrm>
            <a:off x="6159502"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99" name="Google Shape;199;p8"/>
          <p:cNvSpPr txBox="1"/>
          <p:nvPr/>
        </p:nvSpPr>
        <p:spPr>
          <a:xfrm>
            <a:off x="8702721"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cxnSp>
        <p:nvCxnSpPr>
          <p:cNvPr id="200" name="Google Shape;200;p8"/>
          <p:cNvCxnSpPr/>
          <p:nvPr/>
        </p:nvCxnSpPr>
        <p:spPr>
          <a:xfrm>
            <a:off x="3552780"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cxnSp>
        <p:nvCxnSpPr>
          <p:cNvPr id="201" name="Google Shape;201;p8"/>
          <p:cNvCxnSpPr/>
          <p:nvPr/>
        </p:nvCxnSpPr>
        <p:spPr>
          <a:xfrm>
            <a:off x="6095998"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cxnSp>
        <p:nvCxnSpPr>
          <p:cNvPr id="202" name="Google Shape;202;p8"/>
          <p:cNvCxnSpPr/>
          <p:nvPr/>
        </p:nvCxnSpPr>
        <p:spPr>
          <a:xfrm>
            <a:off x="8639216"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sp>
        <p:nvSpPr>
          <p:cNvPr id="203" name="Google Shape;203;p8"/>
          <p:cNvSpPr/>
          <p:nvPr/>
        </p:nvSpPr>
        <p:spPr>
          <a:xfrm>
            <a:off x="1372882" y="2565400"/>
            <a:ext cx="5092700" cy="203200"/>
          </a:xfrm>
          <a:prstGeom prst="snip2DiagRect">
            <a:avLst>
              <a:gd name="adj1" fmla="val 100000"/>
              <a:gd name="adj2"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4" name="Google Shape;204;p8"/>
          <p:cNvSpPr/>
          <p:nvPr/>
        </p:nvSpPr>
        <p:spPr>
          <a:xfrm>
            <a:off x="1372882" y="2832100"/>
            <a:ext cx="2552700" cy="203200"/>
          </a:xfrm>
          <a:prstGeom prst="snip2DiagRect">
            <a:avLst>
              <a:gd name="adj1" fmla="val 100000"/>
              <a:gd name="adj2"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5" name="Google Shape;205;p8"/>
          <p:cNvSpPr/>
          <p:nvPr/>
        </p:nvSpPr>
        <p:spPr>
          <a:xfrm>
            <a:off x="3916101" y="3098800"/>
            <a:ext cx="2552700" cy="203200"/>
          </a:xfrm>
          <a:prstGeom prst="snip2DiagRect">
            <a:avLst>
              <a:gd name="adj1" fmla="val 100000"/>
              <a:gd name="adj2"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6" name="Google Shape;206;p8"/>
          <p:cNvSpPr/>
          <p:nvPr/>
        </p:nvSpPr>
        <p:spPr>
          <a:xfrm>
            <a:off x="6459319" y="3365500"/>
            <a:ext cx="2908300" cy="203200"/>
          </a:xfrm>
          <a:prstGeom prst="snip2DiagRect">
            <a:avLst>
              <a:gd name="adj1" fmla="val 100000"/>
              <a:gd name="adj2"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7" name="Google Shape;207;p8"/>
          <p:cNvSpPr txBox="1"/>
          <p:nvPr/>
        </p:nvSpPr>
        <p:spPr>
          <a:xfrm>
            <a:off x="6509867" y="2589488"/>
            <a:ext cx="6985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8 - Jun 21</a:t>
            </a:r>
            <a:endParaRPr sz="1400" b="0" i="0" u="none" strike="noStrike" cap="none">
              <a:solidFill>
                <a:srgbClr val="000000"/>
              </a:solidFill>
              <a:latin typeface="Arial"/>
              <a:ea typeface="Arial"/>
              <a:cs typeface="Arial"/>
              <a:sym typeface="Arial"/>
            </a:endParaRPr>
          </a:p>
        </p:txBody>
      </p:sp>
      <p:sp>
        <p:nvSpPr>
          <p:cNvPr id="208" name="Google Shape;208;p8"/>
          <p:cNvSpPr txBox="1"/>
          <p:nvPr/>
        </p:nvSpPr>
        <p:spPr>
          <a:xfrm>
            <a:off x="127000" y="2581741"/>
            <a:ext cx="7493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phase 1</a:t>
            </a:r>
            <a:endParaRPr sz="1400" b="0" i="0" u="none" strike="noStrike" cap="none">
              <a:solidFill>
                <a:srgbClr val="000000"/>
              </a:solidFill>
              <a:latin typeface="Arial"/>
              <a:ea typeface="Arial"/>
              <a:cs typeface="Arial"/>
              <a:sym typeface="Arial"/>
            </a:endParaRPr>
          </a:p>
        </p:txBody>
      </p:sp>
      <p:sp>
        <p:nvSpPr>
          <p:cNvPr id="209" name="Google Shape;209;p8"/>
          <p:cNvSpPr txBox="1"/>
          <p:nvPr/>
        </p:nvSpPr>
        <p:spPr>
          <a:xfrm>
            <a:off x="3966648" y="2856188"/>
            <a:ext cx="6985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8 - Jun 14</a:t>
            </a:r>
            <a:endParaRPr sz="1400" b="0" i="0" u="none" strike="noStrike" cap="none">
              <a:solidFill>
                <a:srgbClr val="000000"/>
              </a:solidFill>
              <a:latin typeface="Arial"/>
              <a:ea typeface="Arial"/>
              <a:cs typeface="Arial"/>
              <a:sym typeface="Arial"/>
            </a:endParaRPr>
          </a:p>
        </p:txBody>
      </p:sp>
      <p:sp>
        <p:nvSpPr>
          <p:cNvPr id="210" name="Google Shape;210;p8"/>
          <p:cNvSpPr txBox="1"/>
          <p:nvPr/>
        </p:nvSpPr>
        <p:spPr>
          <a:xfrm>
            <a:off x="127000" y="2848441"/>
            <a:ext cx="11684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sous-phase 1-a</a:t>
            </a:r>
            <a:endParaRPr sz="1400" b="0" i="0" u="none" strike="noStrike" cap="none">
              <a:solidFill>
                <a:srgbClr val="000000"/>
              </a:solidFill>
              <a:latin typeface="Arial"/>
              <a:ea typeface="Arial"/>
              <a:cs typeface="Arial"/>
              <a:sym typeface="Arial"/>
            </a:endParaRPr>
          </a:p>
        </p:txBody>
      </p:sp>
      <p:sp>
        <p:nvSpPr>
          <p:cNvPr id="211" name="Google Shape;211;p8"/>
          <p:cNvSpPr txBox="1"/>
          <p:nvPr/>
        </p:nvSpPr>
        <p:spPr>
          <a:xfrm>
            <a:off x="6509867" y="3122888"/>
            <a:ext cx="7620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15 - Jun 21</a:t>
            </a:r>
            <a:endParaRPr sz="1400" b="0" i="0" u="none" strike="noStrike" cap="none">
              <a:solidFill>
                <a:srgbClr val="000000"/>
              </a:solidFill>
              <a:latin typeface="Arial"/>
              <a:ea typeface="Arial"/>
              <a:cs typeface="Arial"/>
              <a:sym typeface="Arial"/>
            </a:endParaRPr>
          </a:p>
        </p:txBody>
      </p:sp>
      <p:sp>
        <p:nvSpPr>
          <p:cNvPr id="212" name="Google Shape;212;p8"/>
          <p:cNvSpPr txBox="1"/>
          <p:nvPr/>
        </p:nvSpPr>
        <p:spPr>
          <a:xfrm>
            <a:off x="127000" y="3115141"/>
            <a:ext cx="11811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sous-phase 1-b</a:t>
            </a:r>
            <a:endParaRPr sz="1400" b="0" i="0" u="none" strike="noStrike" cap="none">
              <a:solidFill>
                <a:srgbClr val="000000"/>
              </a:solidFill>
              <a:latin typeface="Arial"/>
              <a:ea typeface="Arial"/>
              <a:cs typeface="Arial"/>
              <a:sym typeface="Arial"/>
            </a:endParaRPr>
          </a:p>
        </p:txBody>
      </p:sp>
      <p:sp>
        <p:nvSpPr>
          <p:cNvPr id="213" name="Google Shape;213;p8"/>
          <p:cNvSpPr txBox="1"/>
          <p:nvPr/>
        </p:nvSpPr>
        <p:spPr>
          <a:xfrm>
            <a:off x="9416402" y="3389588"/>
            <a:ext cx="7620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22 - Jun 29</a:t>
            </a:r>
            <a:endParaRPr sz="1400" b="0" i="0" u="none" strike="noStrike" cap="none">
              <a:solidFill>
                <a:srgbClr val="000000"/>
              </a:solidFill>
              <a:latin typeface="Arial"/>
              <a:ea typeface="Arial"/>
              <a:cs typeface="Arial"/>
              <a:sym typeface="Arial"/>
            </a:endParaRPr>
          </a:p>
        </p:txBody>
      </p:sp>
      <p:sp>
        <p:nvSpPr>
          <p:cNvPr id="214" name="Google Shape;214;p8"/>
          <p:cNvSpPr txBox="1"/>
          <p:nvPr/>
        </p:nvSpPr>
        <p:spPr>
          <a:xfrm>
            <a:off x="127000" y="3381840"/>
            <a:ext cx="7493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phase 2</a:t>
            </a:r>
            <a:endParaRPr sz="1400" b="0" i="0" u="none" strike="noStrike" cap="none">
              <a:solidFill>
                <a:srgbClr val="000000"/>
              </a:solidFill>
              <a:latin typeface="Arial"/>
              <a:ea typeface="Arial"/>
              <a:cs typeface="Arial"/>
              <a:sym typeface="Arial"/>
            </a:endParaRPr>
          </a:p>
        </p:txBody>
      </p:sp>
      <p:sp>
        <p:nvSpPr>
          <p:cNvPr id="215" name="Google Shape;215;p8"/>
          <p:cNvSpPr txBox="1"/>
          <p:nvPr/>
        </p:nvSpPr>
        <p:spPr>
          <a:xfrm>
            <a:off x="2088302" y="405387"/>
            <a:ext cx="7365033" cy="628651"/>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3959"/>
              <a:buFont typeface="Poppins"/>
              <a:buNone/>
            </a:pPr>
            <a:r>
              <a:rPr lang="fr-FR" sz="3959" b="0" i="0" u="none" strike="noStrike" cap="none">
                <a:solidFill>
                  <a:schemeClr val="dk1"/>
                </a:solidFill>
                <a:latin typeface="Montserrat"/>
                <a:ea typeface="Montserrat"/>
                <a:cs typeface="Montserrat"/>
                <a:sym typeface="Montserrat"/>
              </a:rPr>
              <a:t>Échéancier prévisionnel</a:t>
            </a:r>
            <a:endParaRPr sz="1400" b="0" i="0" u="none" strike="noStrike" cap="none">
              <a:solidFill>
                <a:srgbClr val="000000"/>
              </a:solidFill>
              <a:latin typeface="Montserrat"/>
              <a:ea typeface="Montserrat"/>
              <a:cs typeface="Montserrat"/>
              <a:sym typeface="Montserrat"/>
            </a:endParaRPr>
          </a:p>
        </p:txBody>
      </p:sp>
      <p:sp>
        <p:nvSpPr>
          <p:cNvPr id="216" name="Google Shape;216;p8"/>
          <p:cNvSpPr txBox="1"/>
          <p:nvPr/>
        </p:nvSpPr>
        <p:spPr>
          <a:xfrm>
            <a:off x="618836" y="1246909"/>
            <a:ext cx="91533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Montserrat"/>
                <a:ea typeface="Montserrat"/>
                <a:cs typeface="Montserrat"/>
                <a:sym typeface="Montserrat"/>
              </a:rPr>
              <a:t>1-Durée minimale </a:t>
            </a:r>
            <a:r>
              <a:rPr lang="fr-FR" sz="1800" b="0" i="1" u="none" strike="noStrike" cap="none">
                <a:solidFill>
                  <a:schemeClr val="dk1"/>
                </a:solidFill>
                <a:highlight>
                  <a:srgbClr val="FFFF00"/>
                </a:highlight>
                <a:latin typeface="Montserrat"/>
                <a:ea typeface="Montserrat"/>
                <a:cs typeface="Montserrat"/>
                <a:sym typeface="Montserrat"/>
              </a:rPr>
              <a:t>Les diagrammes suivant ont été réalisé avec office timeline qui est un plug-in gratuit de power point. Ils peuvent être édité facilement en utilisant le menu « office timeline free &gt;edit » On peut même y importer des données excel</a:t>
            </a:r>
            <a:endParaRPr sz="1800" b="0" i="0" u="none" strike="noStrike" cap="none">
              <a:solidFill>
                <a:schemeClr val="dk1"/>
              </a:solidFill>
              <a:highlight>
                <a:srgbClr val="FFFF00"/>
              </a:highlight>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9"/>
          <p:cNvSpPr txBox="1"/>
          <p:nvPr/>
        </p:nvSpPr>
        <p:spPr>
          <a:xfrm>
            <a:off x="254000" y="3822869"/>
            <a:ext cx="451662" cy="27906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chemeClr val="accent2"/>
                </a:solidFill>
                <a:latin typeface="Calibri"/>
                <a:ea typeface="Calibri"/>
                <a:cs typeface="Calibri"/>
                <a:sym typeface="Calibri"/>
              </a:rPr>
              <a:t>2020</a:t>
            </a:r>
            <a:endParaRPr sz="1400" b="0" i="0" u="none" strike="noStrike" cap="none">
              <a:solidFill>
                <a:srgbClr val="000000"/>
              </a:solidFill>
              <a:latin typeface="Arial"/>
              <a:ea typeface="Arial"/>
              <a:cs typeface="Arial"/>
              <a:sym typeface="Arial"/>
            </a:endParaRPr>
          </a:p>
        </p:txBody>
      </p:sp>
      <p:sp>
        <p:nvSpPr>
          <p:cNvPr id="222" name="Google Shape;222;p9"/>
          <p:cNvSpPr txBox="1"/>
          <p:nvPr/>
        </p:nvSpPr>
        <p:spPr>
          <a:xfrm>
            <a:off x="11474534" y="3822869"/>
            <a:ext cx="451662" cy="279061"/>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chemeClr val="accent2"/>
                </a:solidFill>
                <a:latin typeface="Calibri"/>
                <a:ea typeface="Calibri"/>
                <a:cs typeface="Calibri"/>
                <a:sym typeface="Calibri"/>
              </a:rPr>
              <a:t>2020</a:t>
            </a:r>
            <a:endParaRPr sz="1400" b="0" i="0" u="none" strike="noStrike" cap="none">
              <a:solidFill>
                <a:srgbClr val="000000"/>
              </a:solidFill>
              <a:latin typeface="Arial"/>
              <a:ea typeface="Arial"/>
              <a:cs typeface="Arial"/>
              <a:sym typeface="Arial"/>
            </a:endParaRPr>
          </a:p>
        </p:txBody>
      </p:sp>
      <p:cxnSp>
        <p:nvCxnSpPr>
          <p:cNvPr id="223" name="Google Shape;223;p9"/>
          <p:cNvCxnSpPr/>
          <p:nvPr/>
        </p:nvCxnSpPr>
        <p:spPr>
          <a:xfrm>
            <a:off x="876216" y="2667000"/>
            <a:ext cx="375561" cy="0"/>
          </a:xfrm>
          <a:prstGeom prst="straightConnector1">
            <a:avLst/>
          </a:prstGeom>
          <a:noFill/>
          <a:ln w="9525" cap="flat" cmpd="sng">
            <a:solidFill>
              <a:srgbClr val="CCCCCC"/>
            </a:solidFill>
            <a:prstDash val="solid"/>
            <a:miter lim="800000"/>
            <a:headEnd type="none" w="sm" len="sm"/>
            <a:tailEnd type="none" w="sm" len="sm"/>
          </a:ln>
        </p:spPr>
      </p:cxnSp>
      <p:cxnSp>
        <p:nvCxnSpPr>
          <p:cNvPr id="224" name="Google Shape;224;p9"/>
          <p:cNvCxnSpPr/>
          <p:nvPr/>
        </p:nvCxnSpPr>
        <p:spPr>
          <a:xfrm rot="10800000">
            <a:off x="1298194" y="3200400"/>
            <a:ext cx="1649061" cy="0"/>
          </a:xfrm>
          <a:prstGeom prst="straightConnector1">
            <a:avLst/>
          </a:prstGeom>
          <a:noFill/>
          <a:ln w="9525" cap="flat" cmpd="sng">
            <a:solidFill>
              <a:srgbClr val="CCCCCC"/>
            </a:solidFill>
            <a:prstDash val="solid"/>
            <a:miter lim="800000"/>
            <a:headEnd type="none" w="sm" len="sm"/>
            <a:tailEnd type="none" w="sm" len="sm"/>
          </a:ln>
        </p:spPr>
      </p:cxnSp>
      <p:cxnSp>
        <p:nvCxnSpPr>
          <p:cNvPr id="225" name="Google Shape;225;p9"/>
          <p:cNvCxnSpPr/>
          <p:nvPr/>
        </p:nvCxnSpPr>
        <p:spPr>
          <a:xfrm>
            <a:off x="876216" y="3467100"/>
            <a:ext cx="5461997" cy="0"/>
          </a:xfrm>
          <a:prstGeom prst="straightConnector1">
            <a:avLst/>
          </a:prstGeom>
          <a:noFill/>
          <a:ln w="9525" cap="flat" cmpd="sng">
            <a:solidFill>
              <a:srgbClr val="CCCCCC"/>
            </a:solidFill>
            <a:prstDash val="solid"/>
            <a:miter lim="800000"/>
            <a:headEnd type="none" w="sm" len="sm"/>
            <a:tailEnd type="none" w="sm" len="sm"/>
          </a:ln>
        </p:spPr>
      </p:cxnSp>
      <p:sp>
        <p:nvSpPr>
          <p:cNvPr id="226" name="Google Shape;226;p9"/>
          <p:cNvSpPr/>
          <p:nvPr/>
        </p:nvSpPr>
        <p:spPr>
          <a:xfrm>
            <a:off x="844465" y="3771900"/>
            <a:ext cx="10515600" cy="381000"/>
          </a:xfrm>
          <a:prstGeom prst="snip2DiagRect">
            <a:avLst>
              <a:gd name="adj1" fmla="val 100000"/>
              <a:gd name="adj2" fmla="val 16667"/>
            </a:avLst>
          </a:prstGeom>
          <a:gradFill>
            <a:gsLst>
              <a:gs pos="0">
                <a:srgbClr val="44546A"/>
              </a:gs>
              <a:gs pos="100000">
                <a:srgbClr val="52667F"/>
              </a:gs>
            </a:gsLst>
            <a:lin ang="5400000" scaled="0"/>
          </a:gradFill>
          <a:ln>
            <a:noFill/>
          </a:ln>
          <a:effectLst>
            <a:reflection stA="50000" endA="300" endPos="55500" dist="50800" dir="5400000" sy="-100000" algn="bl" rotWithShape="0"/>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7" name="Google Shape;227;p9"/>
          <p:cNvSpPr txBox="1"/>
          <p:nvPr/>
        </p:nvSpPr>
        <p:spPr>
          <a:xfrm>
            <a:off x="1073065" y="3869372"/>
            <a:ext cx="46990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Week 1</a:t>
            </a:r>
            <a:endParaRPr sz="1400" b="0" i="0" u="none" strike="noStrike" cap="none">
              <a:solidFill>
                <a:srgbClr val="000000"/>
              </a:solidFill>
              <a:latin typeface="Arial"/>
              <a:ea typeface="Arial"/>
              <a:cs typeface="Arial"/>
              <a:sym typeface="Arial"/>
            </a:endParaRPr>
          </a:p>
        </p:txBody>
      </p:sp>
      <p:sp>
        <p:nvSpPr>
          <p:cNvPr id="228" name="Google Shape;228;p9"/>
          <p:cNvSpPr txBox="1"/>
          <p:nvPr/>
        </p:nvSpPr>
        <p:spPr>
          <a:xfrm>
            <a:off x="2768544"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229" name="Google Shape;229;p9"/>
          <p:cNvSpPr txBox="1"/>
          <p:nvPr/>
        </p:nvSpPr>
        <p:spPr>
          <a:xfrm>
            <a:off x="4464023"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230" name="Google Shape;230;p9"/>
          <p:cNvSpPr txBox="1"/>
          <p:nvPr/>
        </p:nvSpPr>
        <p:spPr>
          <a:xfrm>
            <a:off x="6159502"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sp>
        <p:nvSpPr>
          <p:cNvPr id="231" name="Google Shape;231;p9"/>
          <p:cNvSpPr txBox="1"/>
          <p:nvPr/>
        </p:nvSpPr>
        <p:spPr>
          <a:xfrm>
            <a:off x="7854980"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232" name="Google Shape;232;p9"/>
          <p:cNvSpPr txBox="1"/>
          <p:nvPr/>
        </p:nvSpPr>
        <p:spPr>
          <a:xfrm>
            <a:off x="9550459" y="3869372"/>
            <a:ext cx="75470" cy="18605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lt1"/>
                </a:solidFill>
                <a:latin typeface="Calibri"/>
                <a:ea typeface="Calibri"/>
                <a:cs typeface="Calibri"/>
                <a:sym typeface="Calibri"/>
              </a:rPr>
              <a:t>6</a:t>
            </a:r>
            <a:endParaRPr sz="1400" b="0" i="0" u="none" strike="noStrike" cap="none">
              <a:solidFill>
                <a:srgbClr val="000000"/>
              </a:solidFill>
              <a:latin typeface="Arial"/>
              <a:ea typeface="Arial"/>
              <a:cs typeface="Arial"/>
              <a:sym typeface="Arial"/>
            </a:endParaRPr>
          </a:p>
        </p:txBody>
      </p:sp>
      <p:cxnSp>
        <p:nvCxnSpPr>
          <p:cNvPr id="233" name="Google Shape;233;p9"/>
          <p:cNvCxnSpPr/>
          <p:nvPr/>
        </p:nvCxnSpPr>
        <p:spPr>
          <a:xfrm>
            <a:off x="2705041"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cxnSp>
        <p:nvCxnSpPr>
          <p:cNvPr id="234" name="Google Shape;234;p9"/>
          <p:cNvCxnSpPr/>
          <p:nvPr/>
        </p:nvCxnSpPr>
        <p:spPr>
          <a:xfrm>
            <a:off x="4400520"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cxnSp>
        <p:nvCxnSpPr>
          <p:cNvPr id="235" name="Google Shape;235;p9"/>
          <p:cNvCxnSpPr/>
          <p:nvPr/>
        </p:nvCxnSpPr>
        <p:spPr>
          <a:xfrm>
            <a:off x="6095998"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cxnSp>
        <p:nvCxnSpPr>
          <p:cNvPr id="236" name="Google Shape;236;p9"/>
          <p:cNvCxnSpPr/>
          <p:nvPr/>
        </p:nvCxnSpPr>
        <p:spPr>
          <a:xfrm>
            <a:off x="7791477"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cxnSp>
        <p:nvCxnSpPr>
          <p:cNvPr id="237" name="Google Shape;237;p9"/>
          <p:cNvCxnSpPr/>
          <p:nvPr/>
        </p:nvCxnSpPr>
        <p:spPr>
          <a:xfrm>
            <a:off x="9486956" y="3835400"/>
            <a:ext cx="0" cy="254000"/>
          </a:xfrm>
          <a:prstGeom prst="straightConnector1">
            <a:avLst/>
          </a:prstGeom>
          <a:noFill/>
          <a:ln w="9525" cap="flat" cmpd="sng">
            <a:solidFill>
              <a:schemeClr val="lt1">
                <a:alpha val="28627"/>
              </a:schemeClr>
            </a:solidFill>
            <a:prstDash val="solid"/>
            <a:miter lim="800000"/>
            <a:headEnd type="none" w="sm" len="sm"/>
            <a:tailEnd type="none" w="sm" len="sm"/>
          </a:ln>
        </p:spPr>
      </p:cxnSp>
      <p:sp>
        <p:nvSpPr>
          <p:cNvPr id="238" name="Google Shape;238;p9"/>
          <p:cNvSpPr/>
          <p:nvPr/>
        </p:nvSpPr>
        <p:spPr>
          <a:xfrm>
            <a:off x="1251777" y="2565400"/>
            <a:ext cx="5092700" cy="203200"/>
          </a:xfrm>
          <a:prstGeom prst="snip2DiagRect">
            <a:avLst>
              <a:gd name="adj1" fmla="val 100000"/>
              <a:gd name="adj2"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9" name="Google Shape;239;p9"/>
          <p:cNvSpPr/>
          <p:nvPr/>
        </p:nvSpPr>
        <p:spPr>
          <a:xfrm>
            <a:off x="1251777" y="2832100"/>
            <a:ext cx="1701800" cy="203200"/>
          </a:xfrm>
          <a:prstGeom prst="snip2DiagRect">
            <a:avLst>
              <a:gd name="adj1" fmla="val 100000"/>
              <a:gd name="adj2"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0" name="Google Shape;240;p9"/>
          <p:cNvSpPr/>
          <p:nvPr/>
        </p:nvSpPr>
        <p:spPr>
          <a:xfrm>
            <a:off x="2947255" y="3098800"/>
            <a:ext cx="3390900" cy="203200"/>
          </a:xfrm>
          <a:prstGeom prst="snip2DiagRect">
            <a:avLst>
              <a:gd name="adj1" fmla="val 100000"/>
              <a:gd name="adj2" fmla="val 16667"/>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1" name="Google Shape;241;p9"/>
          <p:cNvSpPr/>
          <p:nvPr/>
        </p:nvSpPr>
        <p:spPr>
          <a:xfrm>
            <a:off x="6338213" y="3365500"/>
            <a:ext cx="3390900" cy="203200"/>
          </a:xfrm>
          <a:prstGeom prst="snip2DiagRect">
            <a:avLst>
              <a:gd name="adj1" fmla="val 100000"/>
              <a:gd name="adj2"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2" name="Google Shape;242;p9"/>
          <p:cNvSpPr txBox="1"/>
          <p:nvPr/>
        </p:nvSpPr>
        <p:spPr>
          <a:xfrm>
            <a:off x="6388845" y="2589488"/>
            <a:ext cx="6985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8 - Jun 28</a:t>
            </a:r>
            <a:endParaRPr sz="1400" b="0" i="0" u="none" strike="noStrike" cap="none">
              <a:solidFill>
                <a:srgbClr val="000000"/>
              </a:solidFill>
              <a:latin typeface="Arial"/>
              <a:ea typeface="Arial"/>
              <a:cs typeface="Arial"/>
              <a:sym typeface="Arial"/>
            </a:endParaRPr>
          </a:p>
        </p:txBody>
      </p:sp>
      <p:sp>
        <p:nvSpPr>
          <p:cNvPr id="243" name="Google Shape;243;p9"/>
          <p:cNvSpPr txBox="1"/>
          <p:nvPr/>
        </p:nvSpPr>
        <p:spPr>
          <a:xfrm>
            <a:off x="127000" y="2581741"/>
            <a:ext cx="7493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phase 1</a:t>
            </a:r>
            <a:endParaRPr sz="1400" b="0" i="0" u="none" strike="noStrike" cap="none">
              <a:solidFill>
                <a:srgbClr val="000000"/>
              </a:solidFill>
              <a:latin typeface="Arial"/>
              <a:ea typeface="Arial"/>
              <a:cs typeface="Arial"/>
              <a:sym typeface="Arial"/>
            </a:endParaRPr>
          </a:p>
        </p:txBody>
      </p:sp>
      <p:sp>
        <p:nvSpPr>
          <p:cNvPr id="244" name="Google Shape;244;p9"/>
          <p:cNvSpPr txBox="1"/>
          <p:nvPr/>
        </p:nvSpPr>
        <p:spPr>
          <a:xfrm>
            <a:off x="2997887" y="2856188"/>
            <a:ext cx="6985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8 - Jun 14</a:t>
            </a:r>
            <a:endParaRPr sz="1400" b="0" i="0" u="none" strike="noStrike" cap="none">
              <a:solidFill>
                <a:srgbClr val="000000"/>
              </a:solidFill>
              <a:latin typeface="Arial"/>
              <a:ea typeface="Arial"/>
              <a:cs typeface="Arial"/>
              <a:sym typeface="Arial"/>
            </a:endParaRPr>
          </a:p>
        </p:txBody>
      </p:sp>
      <p:sp>
        <p:nvSpPr>
          <p:cNvPr id="245" name="Google Shape;245;p9"/>
          <p:cNvSpPr txBox="1"/>
          <p:nvPr/>
        </p:nvSpPr>
        <p:spPr>
          <a:xfrm>
            <a:off x="127000" y="2848441"/>
            <a:ext cx="11684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sous-phase 1-a</a:t>
            </a:r>
            <a:endParaRPr sz="1400" b="0" i="0" u="none" strike="noStrike" cap="none">
              <a:solidFill>
                <a:srgbClr val="000000"/>
              </a:solidFill>
              <a:latin typeface="Arial"/>
              <a:ea typeface="Arial"/>
              <a:cs typeface="Arial"/>
              <a:sym typeface="Arial"/>
            </a:endParaRPr>
          </a:p>
        </p:txBody>
      </p:sp>
      <p:sp>
        <p:nvSpPr>
          <p:cNvPr id="246" name="Google Shape;246;p9"/>
          <p:cNvSpPr txBox="1"/>
          <p:nvPr/>
        </p:nvSpPr>
        <p:spPr>
          <a:xfrm>
            <a:off x="6388845" y="3122888"/>
            <a:ext cx="7620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15 - Jun 28</a:t>
            </a:r>
            <a:endParaRPr sz="1400" b="0" i="0" u="none" strike="noStrike" cap="none">
              <a:solidFill>
                <a:srgbClr val="000000"/>
              </a:solidFill>
              <a:latin typeface="Arial"/>
              <a:ea typeface="Arial"/>
              <a:cs typeface="Arial"/>
              <a:sym typeface="Arial"/>
            </a:endParaRPr>
          </a:p>
        </p:txBody>
      </p:sp>
      <p:sp>
        <p:nvSpPr>
          <p:cNvPr id="247" name="Google Shape;247;p9"/>
          <p:cNvSpPr txBox="1"/>
          <p:nvPr/>
        </p:nvSpPr>
        <p:spPr>
          <a:xfrm>
            <a:off x="127000" y="3115141"/>
            <a:ext cx="11811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sous-phase 1-b</a:t>
            </a:r>
            <a:endParaRPr sz="1400" b="0" i="0" u="none" strike="noStrike" cap="none">
              <a:solidFill>
                <a:srgbClr val="000000"/>
              </a:solidFill>
              <a:latin typeface="Arial"/>
              <a:ea typeface="Arial"/>
              <a:cs typeface="Arial"/>
              <a:sym typeface="Arial"/>
            </a:endParaRPr>
          </a:p>
        </p:txBody>
      </p:sp>
      <p:sp>
        <p:nvSpPr>
          <p:cNvPr id="248" name="Google Shape;248;p9"/>
          <p:cNvSpPr txBox="1"/>
          <p:nvPr/>
        </p:nvSpPr>
        <p:spPr>
          <a:xfrm>
            <a:off x="9779802" y="3389588"/>
            <a:ext cx="723900" cy="155025"/>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2"/>
                </a:solidFill>
                <a:latin typeface="Calibri"/>
                <a:ea typeface="Calibri"/>
                <a:cs typeface="Calibri"/>
                <a:sym typeface="Calibri"/>
              </a:rPr>
              <a:t>Jun 29 - Jul 12</a:t>
            </a:r>
            <a:endParaRPr sz="1400" b="0" i="0" u="none" strike="noStrike" cap="none">
              <a:solidFill>
                <a:srgbClr val="000000"/>
              </a:solidFill>
              <a:latin typeface="Arial"/>
              <a:ea typeface="Arial"/>
              <a:cs typeface="Arial"/>
              <a:sym typeface="Arial"/>
            </a:endParaRPr>
          </a:p>
        </p:txBody>
      </p:sp>
      <p:sp>
        <p:nvSpPr>
          <p:cNvPr id="249" name="Google Shape;249;p9"/>
          <p:cNvSpPr txBox="1"/>
          <p:nvPr/>
        </p:nvSpPr>
        <p:spPr>
          <a:xfrm>
            <a:off x="127000" y="3381840"/>
            <a:ext cx="749300" cy="17051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alibri"/>
                <a:ea typeface="Calibri"/>
                <a:cs typeface="Calibri"/>
                <a:sym typeface="Calibri"/>
              </a:rPr>
              <a:t>Titre phase 2</a:t>
            </a:r>
            <a:endParaRPr sz="1400" b="0" i="0" u="none" strike="noStrike" cap="none">
              <a:solidFill>
                <a:srgbClr val="000000"/>
              </a:solidFill>
              <a:latin typeface="Arial"/>
              <a:ea typeface="Arial"/>
              <a:cs typeface="Arial"/>
              <a:sym typeface="Arial"/>
            </a:endParaRPr>
          </a:p>
        </p:txBody>
      </p:sp>
      <p:sp>
        <p:nvSpPr>
          <p:cNvPr id="250" name="Google Shape;250;p9"/>
          <p:cNvSpPr txBox="1"/>
          <p:nvPr/>
        </p:nvSpPr>
        <p:spPr>
          <a:xfrm>
            <a:off x="2088302" y="405387"/>
            <a:ext cx="7365033" cy="628651"/>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3959"/>
              <a:buFont typeface="Poppins"/>
              <a:buNone/>
            </a:pPr>
            <a:r>
              <a:rPr lang="fr-FR" sz="3959" b="0" i="0" u="none" strike="noStrike" cap="none">
                <a:solidFill>
                  <a:schemeClr val="dk1"/>
                </a:solidFill>
                <a:latin typeface="Montserrat"/>
                <a:ea typeface="Montserrat"/>
                <a:cs typeface="Montserrat"/>
                <a:sym typeface="Montserrat"/>
              </a:rPr>
              <a:t>Échéancier prévisionnel</a:t>
            </a:r>
            <a:endParaRPr sz="3959" b="0" i="0" u="none" strike="noStrike" cap="none">
              <a:solidFill>
                <a:schemeClr val="dk1"/>
              </a:solidFill>
              <a:latin typeface="Montserrat"/>
              <a:ea typeface="Montserrat"/>
              <a:cs typeface="Montserrat"/>
              <a:sym typeface="Montserrat"/>
            </a:endParaRPr>
          </a:p>
        </p:txBody>
      </p:sp>
      <p:sp>
        <p:nvSpPr>
          <p:cNvPr id="251" name="Google Shape;251;p9"/>
          <p:cNvSpPr txBox="1"/>
          <p:nvPr/>
        </p:nvSpPr>
        <p:spPr>
          <a:xfrm>
            <a:off x="618836" y="1246909"/>
            <a:ext cx="915323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Montserrat"/>
                <a:ea typeface="Montserrat"/>
                <a:cs typeface="Montserrat"/>
                <a:sym typeface="Montserrat"/>
              </a:rPr>
              <a:t>2-Durée maximale</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0"/>
          <p:cNvSpPr txBox="1"/>
          <p:nvPr/>
        </p:nvSpPr>
        <p:spPr>
          <a:xfrm>
            <a:off x="2088301" y="384622"/>
            <a:ext cx="7365033" cy="628651"/>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3959"/>
              <a:buFont typeface="Poppins"/>
              <a:buNone/>
            </a:pPr>
            <a:r>
              <a:rPr lang="fr-FR" sz="3959" b="0" i="0" u="none" strike="noStrike" cap="none">
                <a:solidFill>
                  <a:schemeClr val="dk1"/>
                </a:solidFill>
                <a:latin typeface="Montserrat"/>
                <a:ea typeface="Montserrat"/>
                <a:cs typeface="Montserrat"/>
                <a:sym typeface="Montserrat"/>
              </a:rPr>
              <a:t>Conclusion</a:t>
            </a:r>
            <a:endParaRPr sz="1400" b="0" i="0" u="none" strike="noStrike" cap="none">
              <a:solidFill>
                <a:srgbClr val="000000"/>
              </a:solidFill>
              <a:latin typeface="Montserrat"/>
              <a:ea typeface="Montserrat"/>
              <a:cs typeface="Montserrat"/>
              <a:sym typeface="Montserrat"/>
            </a:endParaRPr>
          </a:p>
        </p:txBody>
      </p:sp>
      <p:sp>
        <p:nvSpPr>
          <p:cNvPr id="257" name="Google Shape;257;p10"/>
          <p:cNvSpPr txBox="1"/>
          <p:nvPr/>
        </p:nvSpPr>
        <p:spPr>
          <a:xfrm>
            <a:off x="858475" y="977279"/>
            <a:ext cx="10475100" cy="30469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500" b="0" i="1" u="sng" strike="noStrike" cap="none" dirty="0">
                <a:solidFill>
                  <a:schemeClr val="dk1"/>
                </a:solidFill>
                <a:latin typeface="Montserrat"/>
                <a:ea typeface="Montserrat"/>
                <a:cs typeface="Montserrat"/>
                <a:sym typeface="Montserrat"/>
              </a:rPr>
              <a:t>Cas convention étude classique</a:t>
            </a:r>
            <a:endParaRPr sz="11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500" b="0" i="0" u="none" strike="noStrike" cap="none" dirty="0">
                <a:solidFill>
                  <a:schemeClr val="dk1"/>
                </a:solidFill>
                <a:latin typeface="Montserrat"/>
                <a:ea typeface="Montserrat"/>
                <a:cs typeface="Montserrat"/>
                <a:sym typeface="Montserrat"/>
              </a:rPr>
              <a:t>Le livrable remis sera </a:t>
            </a:r>
            <a:r>
              <a:rPr lang="fr-FR" sz="1500" b="0" i="1" u="none" strike="noStrike" cap="none" dirty="0">
                <a:solidFill>
                  <a:schemeClr val="dk1"/>
                </a:solidFill>
                <a:latin typeface="Montserrat"/>
                <a:ea typeface="Montserrat"/>
                <a:cs typeface="Montserrat"/>
                <a:sym typeface="Montserrat"/>
              </a:rPr>
              <a:t>décrire le livrable</a:t>
            </a:r>
            <a:endParaRPr sz="15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500" b="0" i="0" u="none" strike="noStrike" cap="none" dirty="0">
                <a:solidFill>
                  <a:schemeClr val="dk1"/>
                </a:solidFill>
                <a:latin typeface="Montserrat"/>
                <a:ea typeface="Montserrat"/>
                <a:cs typeface="Montserrat"/>
                <a:sym typeface="Montserrat"/>
              </a:rPr>
              <a:t>Il sera garanti </a:t>
            </a:r>
            <a:r>
              <a:rPr lang="fr-FR" sz="1500" b="0" i="1" u="none" strike="noStrike" cap="none" dirty="0">
                <a:solidFill>
                  <a:schemeClr val="dk1"/>
                </a:solidFill>
                <a:latin typeface="Montserrat"/>
                <a:ea typeface="Montserrat"/>
                <a:cs typeface="Montserrat"/>
                <a:sym typeface="Montserrat"/>
              </a:rPr>
              <a:t>3 mois ou 15 jours selon le livrable</a:t>
            </a:r>
            <a:endParaRPr sz="1500" b="0" i="0" u="none" strike="noStrike" cap="none" dirty="0">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fr-FR" sz="1500" b="0" i="0" u="none" strike="noStrike" cap="none" dirty="0">
                <a:solidFill>
                  <a:schemeClr val="dk1"/>
                </a:solidFill>
                <a:latin typeface="Montserrat"/>
                <a:ea typeface="Montserrat"/>
                <a:cs typeface="Montserrat"/>
                <a:sym typeface="Montserrat"/>
              </a:rPr>
              <a:t>Une documentation précise sera aussi fournie, elle sera garantie 15 jours</a:t>
            </a:r>
            <a:endParaRPr sz="1100" b="0" i="0" u="none" strike="noStrike" cap="none" dirty="0">
              <a:solidFill>
                <a:srgbClr val="000000"/>
              </a:solidFill>
              <a:latin typeface="Montserrat"/>
              <a:ea typeface="Montserrat"/>
              <a:cs typeface="Montserrat"/>
              <a:sym typeface="Montserrat"/>
            </a:endParaRPr>
          </a:p>
          <a:p>
            <a:pPr lvl="0">
              <a:buSzPts val="1500"/>
            </a:pPr>
            <a:r>
              <a:rPr lang="fr-FR" sz="1500" b="0" i="0" u="none" strike="noStrike" cap="none" dirty="0">
                <a:solidFill>
                  <a:schemeClr val="dk1"/>
                </a:solidFill>
                <a:latin typeface="Montserrat"/>
                <a:ea typeface="Montserrat"/>
                <a:cs typeface="Montserrat"/>
                <a:sym typeface="Montserrat"/>
              </a:rPr>
              <a:t>A la fin de l’étude commencera la phase de garantie. </a:t>
            </a:r>
            <a:r>
              <a:rPr lang="fr-FR" sz="1500" dirty="0">
                <a:latin typeface="Montserrat" panose="00000500000000000000" pitchFamily="2" charset="0"/>
              </a:rPr>
              <a:t>{{etude.prospect.name}} </a:t>
            </a:r>
            <a:r>
              <a:rPr lang="fr-FR" sz="1500" b="0" i="0" u="none" strike="noStrike" cap="none" dirty="0" smtClean="0">
                <a:solidFill>
                  <a:schemeClr val="dk1"/>
                </a:solidFill>
                <a:latin typeface="Montserrat"/>
                <a:ea typeface="Montserrat"/>
                <a:cs typeface="Montserrat"/>
                <a:sym typeface="Montserrat"/>
              </a:rPr>
              <a:t>aura </a:t>
            </a:r>
            <a:r>
              <a:rPr lang="fr-FR" sz="1500" b="0" i="0" u="none" strike="noStrike" cap="none" dirty="0">
                <a:solidFill>
                  <a:schemeClr val="dk1"/>
                </a:solidFill>
                <a:latin typeface="Montserrat"/>
                <a:ea typeface="Montserrat"/>
                <a:cs typeface="Montserrat"/>
                <a:sym typeface="Montserrat"/>
              </a:rPr>
              <a:t>3 mois pour remonter les éléments du logiciel non conforme </a:t>
            </a:r>
            <a:r>
              <a:rPr lang="fr-FR" sz="1600" b="0" i="0" u="none" strike="noStrike" cap="none" dirty="0">
                <a:solidFill>
                  <a:schemeClr val="dk1"/>
                </a:solidFill>
                <a:latin typeface="Montserrat"/>
                <a:ea typeface="Montserrat"/>
                <a:cs typeface="Montserrat"/>
                <a:sym typeface="Montserrat"/>
              </a:rPr>
              <a:t>au cahier des charges</a:t>
            </a:r>
            <a:r>
              <a:rPr lang="fr-FR" sz="1500" b="0" i="0" u="none" strike="noStrike" cap="none" dirty="0">
                <a:solidFill>
                  <a:schemeClr val="dk1"/>
                </a:solidFill>
                <a:latin typeface="Montserrat"/>
                <a:ea typeface="Montserrat"/>
                <a:cs typeface="Montserrat"/>
                <a:sym typeface="Montserrat"/>
              </a:rPr>
              <a:t>. La documentation sera elle garantie 15 jours.</a:t>
            </a:r>
            <a:endParaRPr sz="1100" b="0" i="0" u="none" strike="noStrike" cap="none" dirty="0">
              <a:solidFill>
                <a:srgbClr val="000000"/>
              </a:solidFill>
              <a:latin typeface="Montserrat"/>
              <a:ea typeface="Montserrat"/>
              <a:cs typeface="Montserrat"/>
              <a:sym typeface="Montserrat"/>
            </a:endParaRPr>
          </a:p>
          <a:p>
            <a:pPr lvl="0" algn="just">
              <a:buSzPts val="1500"/>
            </a:pPr>
            <a:r>
              <a:rPr lang="fr-FR" sz="1500" b="0" i="0" u="none" strike="noStrike" cap="none" dirty="0">
                <a:solidFill>
                  <a:schemeClr val="dk1"/>
                </a:solidFill>
                <a:latin typeface="Montserrat"/>
                <a:ea typeface="Montserrat"/>
                <a:cs typeface="Montserrat"/>
                <a:sym typeface="Montserrat"/>
              </a:rPr>
              <a:t>Dans le cas où cette proposition est acceptée, une convention étude sera établie entre Ouest INSA et </a:t>
            </a:r>
            <a:r>
              <a:rPr lang="fr-FR" sz="1500" dirty="0">
                <a:latin typeface="Montserrat" panose="00000500000000000000" pitchFamily="2" charset="0"/>
              </a:rPr>
              <a:t>{{etude.prospect.name</a:t>
            </a:r>
            <a:r>
              <a:rPr lang="fr-FR" sz="1500" dirty="0" smtClean="0">
                <a:latin typeface="Montserrat" panose="00000500000000000000" pitchFamily="2" charset="0"/>
              </a:rPr>
              <a:t>}}. </a:t>
            </a:r>
            <a:r>
              <a:rPr lang="fr-FR" sz="1500" b="0" i="0" u="none" strike="noStrike" cap="none" dirty="0" smtClean="0">
                <a:solidFill>
                  <a:schemeClr val="dk1"/>
                </a:solidFill>
                <a:latin typeface="Montserrat"/>
                <a:ea typeface="Montserrat"/>
                <a:cs typeface="Montserrat"/>
                <a:sym typeface="Montserrat"/>
              </a:rPr>
              <a:t>Ce </a:t>
            </a:r>
            <a:r>
              <a:rPr lang="fr-FR" sz="1500" b="0" i="0" u="none" strike="noStrike" cap="none" dirty="0">
                <a:solidFill>
                  <a:schemeClr val="dk1"/>
                </a:solidFill>
                <a:latin typeface="Montserrat"/>
                <a:ea typeface="Montserrat"/>
                <a:cs typeface="Montserrat"/>
                <a:sym typeface="Montserrat"/>
              </a:rPr>
              <a:t>document sera le contrat liant les 2 parties. Elle contiendra notamment le cahier des charges détaillé, la proposition financière ainsi que les aspects juridiques de la convention (obligation de moyen, juridiction compétente…).</a:t>
            </a:r>
            <a:endParaRPr sz="11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500"/>
              <a:buFont typeface="Arial"/>
              <a:buNone/>
            </a:pPr>
            <a:r>
              <a:rPr lang="fr-FR" sz="1500" b="0" i="0" u="none" strike="noStrike" cap="none" dirty="0">
                <a:solidFill>
                  <a:schemeClr val="dk1"/>
                </a:solidFill>
                <a:latin typeface="Montserrat"/>
                <a:ea typeface="Montserrat"/>
                <a:cs typeface="Montserrat"/>
                <a:sym typeface="Montserrat"/>
              </a:rPr>
              <a:t>Les réalisateurs seront recrutés parmi les étudiants de l’INSA Rennes. Nous assurerons un entretien pour tester leur motivation.</a:t>
            </a:r>
            <a:endParaRPr sz="11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rgbClr val="000000"/>
              </a:solidFill>
              <a:latin typeface="Montserrat"/>
              <a:ea typeface="Montserrat"/>
              <a:cs typeface="Montserrat"/>
              <a:sym typeface="Montserrat"/>
            </a:endParaRPr>
          </a:p>
        </p:txBody>
      </p:sp>
      <p:sp>
        <p:nvSpPr>
          <p:cNvPr id="258" name="Google Shape;258;p10"/>
          <p:cNvSpPr txBox="1"/>
          <p:nvPr/>
        </p:nvSpPr>
        <p:spPr>
          <a:xfrm>
            <a:off x="916051" y="3808850"/>
            <a:ext cx="9709500" cy="29853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600" b="0" i="1" u="sng" strike="noStrike" cap="none" dirty="0">
                <a:solidFill>
                  <a:schemeClr val="dk1"/>
                </a:solidFill>
                <a:latin typeface="Montserrat"/>
                <a:ea typeface="Montserrat"/>
                <a:cs typeface="Montserrat"/>
                <a:sym typeface="Montserrat"/>
              </a:rPr>
              <a:t>Cas Convention cadre agile</a:t>
            </a:r>
            <a:endParaRPr sz="12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dirty="0">
                <a:solidFill>
                  <a:schemeClr val="dk1"/>
                </a:solidFill>
                <a:latin typeface="Montserrat"/>
                <a:ea typeface="Montserrat"/>
                <a:cs typeface="Montserrat"/>
                <a:sym typeface="Montserrat"/>
              </a:rPr>
              <a:t>Les livrables remis à la fin des </a:t>
            </a:r>
            <a:r>
              <a:rPr lang="fr-FR" sz="1600" dirty="0">
                <a:solidFill>
                  <a:schemeClr val="dk1"/>
                </a:solidFill>
                <a:highlight>
                  <a:srgbClr val="FFFF00"/>
                </a:highlight>
                <a:latin typeface="Montserrat"/>
                <a:ea typeface="Montserrat"/>
                <a:cs typeface="Montserrat"/>
                <a:sym typeface="Montserrat"/>
              </a:rPr>
              <a:t>n</a:t>
            </a:r>
            <a:r>
              <a:rPr lang="fr-FR" sz="1600" b="0" i="0" u="none" strike="noStrike" cap="none" dirty="0">
                <a:solidFill>
                  <a:schemeClr val="dk1"/>
                </a:solidFill>
                <a:latin typeface="Montserrat"/>
                <a:ea typeface="Montserrat"/>
                <a:cs typeface="Montserrat"/>
                <a:sym typeface="Montserrat"/>
              </a:rPr>
              <a:t> premiers sprint seront :</a:t>
            </a:r>
            <a:endParaRPr sz="1200" b="0" i="0" u="none" strike="noStrike" cap="none" dirty="0">
              <a:solidFill>
                <a:srgbClr val="000000"/>
              </a:solidFill>
              <a:latin typeface="Montserrat"/>
              <a:ea typeface="Montserrat"/>
              <a:cs typeface="Montserrat"/>
              <a:sym typeface="Montserrat"/>
            </a:endParaRPr>
          </a:p>
          <a:p>
            <a:pPr marL="285750" marR="0" lvl="0" indent="-273050" algn="l" rtl="0">
              <a:lnSpc>
                <a:spcPct val="100000"/>
              </a:lnSpc>
              <a:spcBef>
                <a:spcPts val="0"/>
              </a:spcBef>
              <a:spcAft>
                <a:spcPts val="0"/>
              </a:spcAft>
              <a:buClr>
                <a:srgbClr val="000000"/>
              </a:buClr>
              <a:buSzPts val="1600"/>
              <a:buFont typeface="Montserrat"/>
              <a:buChar char="•"/>
            </a:pPr>
            <a:r>
              <a:rPr lang="fr-FR" sz="1600" b="0" i="1" u="none" strike="noStrike" cap="none" dirty="0">
                <a:solidFill>
                  <a:schemeClr val="dk1"/>
                </a:solidFill>
                <a:highlight>
                  <a:srgbClr val="FFFF00"/>
                </a:highlight>
                <a:latin typeface="Montserrat"/>
                <a:ea typeface="Montserrat"/>
                <a:cs typeface="Montserrat"/>
                <a:sym typeface="Montserrat"/>
              </a:rPr>
              <a:t>Description des livrables des différents BC</a:t>
            </a:r>
            <a:endParaRPr sz="1600" b="0" i="0" u="none" strike="noStrike" cap="none" dirty="0">
              <a:solidFill>
                <a:schemeClr val="dk1"/>
              </a:solidFill>
              <a:highlight>
                <a:srgbClr val="FFFF00"/>
              </a:highlight>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dirty="0">
                <a:solidFill>
                  <a:schemeClr val="dk1"/>
                </a:solidFill>
                <a:latin typeface="Montserrat"/>
                <a:ea typeface="Montserrat"/>
                <a:cs typeface="Montserrat"/>
                <a:sym typeface="Montserrat"/>
              </a:rPr>
              <a:t>A la fin de chaque sprint commencera la phase de garantie. Les livrables de chaque bon de commande sont garantis 1 semaine.</a:t>
            </a:r>
            <a:endParaRPr sz="1600" b="0" i="0" u="none" strike="noStrike" cap="none" dirty="0">
              <a:solidFill>
                <a:schemeClr val="dk1"/>
              </a:solidFill>
              <a:latin typeface="Montserrat"/>
              <a:ea typeface="Montserrat"/>
              <a:cs typeface="Montserrat"/>
              <a:sym typeface="Montserrat"/>
            </a:endParaRPr>
          </a:p>
          <a:p>
            <a:pPr lvl="0">
              <a:buSzPts val="1600"/>
            </a:pPr>
            <a:r>
              <a:rPr lang="fr-FR" sz="1600" b="0" i="0" u="none" strike="noStrike" cap="none" dirty="0">
                <a:solidFill>
                  <a:schemeClr val="dk1"/>
                </a:solidFill>
                <a:latin typeface="Montserrat"/>
                <a:ea typeface="Montserrat"/>
                <a:cs typeface="Montserrat"/>
                <a:sym typeface="Montserrat"/>
              </a:rPr>
              <a:t>Dans le cas où cette proposition est acceptée, Il sera </a:t>
            </a:r>
            <a:r>
              <a:rPr lang="fr-FR" sz="1500" b="0" i="0" u="none" strike="noStrike" cap="none" dirty="0">
                <a:solidFill>
                  <a:schemeClr val="dk1"/>
                </a:solidFill>
                <a:latin typeface="Montserrat"/>
                <a:ea typeface="Montserrat"/>
                <a:cs typeface="Montserrat"/>
                <a:sym typeface="Montserrat"/>
              </a:rPr>
              <a:t>établi entre </a:t>
            </a:r>
            <a:r>
              <a:rPr lang="fr-FR" sz="1500" dirty="0">
                <a:latin typeface="Montserrat" panose="00000500000000000000" pitchFamily="2" charset="0"/>
              </a:rPr>
              <a:t>{{etude.prospect.name}} </a:t>
            </a:r>
            <a:r>
              <a:rPr lang="fr-FR" sz="1500" b="0" i="0" u="none" strike="noStrike" cap="none" dirty="0" smtClean="0">
                <a:solidFill>
                  <a:schemeClr val="dk1"/>
                </a:solidFill>
                <a:latin typeface="Montserrat"/>
                <a:ea typeface="Montserrat"/>
                <a:cs typeface="Montserrat"/>
                <a:sym typeface="Montserrat"/>
              </a:rPr>
              <a:t>et </a:t>
            </a:r>
            <a:r>
              <a:rPr lang="fr-FR" sz="1500" b="0" i="0" u="none" strike="noStrike" cap="none" dirty="0">
                <a:solidFill>
                  <a:schemeClr val="dk1"/>
                </a:solidFill>
                <a:latin typeface="Montserrat"/>
                <a:ea typeface="Montserrat"/>
                <a:cs typeface="Montserrat"/>
                <a:sym typeface="Montserrat"/>
              </a:rPr>
              <a:t>Ouest INSA une convention cadre Agile, qui cadrera l’ensemble de la collaboration pendant trois ans. Elle contiendra notamment les aspects juridiques de la convention (obligation de moyen, juridiction compétente…). Un Bon de commande décrira ensuite le cahier des charges, l’échéancier et la proposition financière de chaque sprint</a:t>
            </a:r>
            <a:endParaRPr sz="1100" b="0" i="0" u="none" strike="noStrike" cap="none" dirty="0">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dirty="0">
                <a:solidFill>
                  <a:schemeClr val="dk1"/>
                </a:solidFill>
                <a:latin typeface="Montserrat"/>
                <a:ea typeface="Montserrat"/>
                <a:cs typeface="Montserrat"/>
                <a:sym typeface="Montserrat"/>
              </a:rPr>
              <a:t>Les réalisateurs seront recrutés parmi les étudiants de l’INSA Rennes. Nous assurerons un entretien pour tester leur motivation et leur capacité à réaliser le projet</a:t>
            </a:r>
            <a:r>
              <a:rPr lang="fr-FR" sz="1600" b="0" i="0" u="none" strike="noStrike" cap="none" dirty="0" smtClean="0">
                <a:solidFill>
                  <a:schemeClr val="dk1"/>
                </a:solidFill>
                <a:latin typeface="Montserrat"/>
                <a:ea typeface="Montserrat"/>
                <a:cs typeface="Montserrat"/>
                <a:sym typeface="Montserrat"/>
              </a:rPr>
              <a:t>.</a:t>
            </a:r>
            <a:endParaRPr sz="1200" b="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1059</Words>
  <Application>Microsoft Office PowerPoint</Application>
  <PresentationFormat>Grand écran</PresentationFormat>
  <Paragraphs>158</Paragraphs>
  <Slides>13</Slides>
  <Notes>13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Montserrat</vt:lpstr>
      <vt:lpstr>Poppins Medium</vt:lpstr>
      <vt:lpstr>Poppins</vt:lpstr>
      <vt:lpstr>Calibri</vt:lpstr>
      <vt:lpstr>Thème Office</vt:lpstr>
      <vt:lpstr>Proposition commerciale</vt:lpstr>
      <vt:lpstr>Présentation de Ouest INSA</vt:lpstr>
      <vt:lpstr>Présentation de Ouest INSA</vt:lpstr>
      <vt:lpstr>Présentation de Ouest INSA</vt:lpstr>
      <vt:lpstr>Présentation de la méthodologie agile</vt:lpstr>
      <vt:lpstr>Contexte et objectifs de l’étude</vt:lpstr>
      <vt:lpstr>Proposition</vt:lpstr>
      <vt:lpstr>Proposition</vt:lpstr>
      <vt:lpstr>Estimation Financière </vt:lpstr>
      <vt:lpstr>Estimation Financière </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commerciale</dc:title>
  <dc:creator>Mathieu</dc:creator>
  <cp:lastModifiedBy>timot</cp:lastModifiedBy>
  <cp:revision>1</cp:revision>
  <dcterms:created xsi:type="dcterms:W3CDTF">2020-02-03T19:57:20Z</dcterms:created>
  <dcterms:modified xsi:type="dcterms:W3CDTF">2021-10-09T09:28:19Z</dcterms:modified>
</cp:coreProperties>
</file>